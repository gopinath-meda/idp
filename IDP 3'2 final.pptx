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0" r:id="rId4"/>
    <p:sldId id="281" r:id="rId5"/>
    <p:sldId id="279" r:id="rId6"/>
    <p:sldId id="259" r:id="rId7"/>
    <p:sldId id="261" r:id="rId8"/>
    <p:sldId id="274" r:id="rId9"/>
    <p:sldId id="271" r:id="rId10"/>
    <p:sldId id="262" r:id="rId11"/>
    <p:sldId id="263" r:id="rId12"/>
    <p:sldId id="268" r:id="rId13"/>
    <p:sldId id="264" r:id="rId14"/>
    <p:sldId id="266" r:id="rId15"/>
    <p:sldId id="277" r:id="rId16"/>
    <p:sldId id="272" r:id="rId17"/>
    <p:sldId id="273" r:id="rId18"/>
    <p:sldId id="276" r:id="rId19"/>
    <p:sldId id="278" r:id="rId20"/>
    <p:sldId id="282" r:id="rId21"/>
    <p:sldId id="283" r:id="rId22"/>
    <p:sldId id="280" r:id="rId23"/>
    <p:sldId id="28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38F8A7-8E77-1B7C-592D-3CCDC6E730D6}" v="28" dt="2024-05-08T04:02:57.0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003" autoAdjust="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2519FB-1B18-41A2-8666-DBDCC88756A2}" type="doc">
      <dgm:prSet loTypeId="urn:microsoft.com/office/officeart/2008/layout/VerticalCurvedList" loCatId="list" qsTypeId="urn:microsoft.com/office/officeart/2005/8/quickstyle/simple1" qsCatId="simple" csTypeId="urn:microsoft.com/office/officeart/2005/8/colors/colorful3" csCatId="colorful" phldr="1"/>
      <dgm:spPr/>
      <dgm:t>
        <a:bodyPr/>
        <a:lstStyle/>
        <a:p>
          <a:endParaRPr lang="en-IN"/>
        </a:p>
      </dgm:t>
    </dgm:pt>
    <dgm:pt modelId="{EDA8DB6E-5148-4C74-8CA7-A242B52A26B1}">
      <dgm:prSet phldrT="[Text]"/>
      <dgm:spPr/>
      <dgm:t>
        <a:bodyPr/>
        <a:lstStyle/>
        <a:p>
          <a:pPr>
            <a:buFont typeface="Wingdings" panose="05000000000000000000" pitchFamily="2" charset="2"/>
            <a:buChar char="ü"/>
          </a:pPr>
          <a:r>
            <a:rPr lang="en-US" b="0" i="0" u="none" strike="noStrike" dirty="0">
              <a:effectLst/>
              <a:latin typeface="Times New Roman" panose="02020603050405020304" pitchFamily="18" charset="0"/>
              <a:cs typeface="Times New Roman" panose="02020603050405020304" pitchFamily="18" charset="0"/>
            </a:rPr>
            <a:t>To identify and characterize the epigenetic modifications that are associated with epigenetic disorders, such as </a:t>
          </a:r>
          <a:r>
            <a:rPr lang="en-US" b="0" i="0" u="none" strike="noStrike" dirty="0" err="1">
              <a:solidFill>
                <a:schemeClr val="bg1"/>
              </a:solidFill>
              <a:effectLst/>
              <a:latin typeface="Times New Roman" panose="02020603050405020304" pitchFamily="18" charset="0"/>
              <a:cs typeface="Times New Roman" panose="02020603050405020304" pitchFamily="18" charset="0"/>
            </a:rPr>
            <a:t>Rett</a:t>
          </a:r>
          <a:r>
            <a:rPr lang="en-US" b="0" i="0" u="none" strike="noStrike" dirty="0">
              <a:solidFill>
                <a:schemeClr val="bg1"/>
              </a:solidFill>
              <a:effectLst/>
              <a:latin typeface="Times New Roman" panose="02020603050405020304" pitchFamily="18" charset="0"/>
              <a:cs typeface="Times New Roman" panose="02020603050405020304" pitchFamily="18" charset="0"/>
            </a:rPr>
            <a:t> syndrome.</a:t>
          </a:r>
          <a:endParaRPr lang="en-IN" b="0" dirty="0">
            <a:solidFill>
              <a:schemeClr val="bg1"/>
            </a:solidFill>
            <a:latin typeface="Times New Roman" panose="02020603050405020304" pitchFamily="18" charset="0"/>
            <a:cs typeface="Times New Roman" panose="02020603050405020304" pitchFamily="18" charset="0"/>
          </a:endParaRPr>
        </a:p>
      </dgm:t>
    </dgm:pt>
    <dgm:pt modelId="{DFF87547-5412-4A37-956B-A86CE2C7615B}" type="parTrans" cxnId="{62464333-E79E-4A76-A13B-A179DBDE045C}">
      <dgm:prSet/>
      <dgm:spPr/>
      <dgm:t>
        <a:bodyPr/>
        <a:lstStyle/>
        <a:p>
          <a:endParaRPr lang="en-IN"/>
        </a:p>
      </dgm:t>
    </dgm:pt>
    <dgm:pt modelId="{EEC5AE95-E689-4047-BC22-48B68C5D1E37}" type="sibTrans" cxnId="{62464333-E79E-4A76-A13B-A179DBDE045C}">
      <dgm:prSet/>
      <dgm:spPr/>
      <dgm:t>
        <a:bodyPr/>
        <a:lstStyle/>
        <a:p>
          <a:endParaRPr lang="en-IN">
            <a:latin typeface="Times New Roman" panose="02020603050405020304" pitchFamily="18" charset="0"/>
            <a:cs typeface="Times New Roman" panose="02020603050405020304" pitchFamily="18" charset="0"/>
          </a:endParaRPr>
        </a:p>
      </dgm:t>
    </dgm:pt>
    <dgm:pt modelId="{14DEE375-DD7D-4ADA-9601-038BDC26FF0D}">
      <dgm:prSet phldrT="[Text]"/>
      <dgm:spPr/>
      <dgm:t>
        <a:bodyPr/>
        <a:lstStyle/>
        <a:p>
          <a:pPr>
            <a:buFont typeface="Wingdings" panose="05000000000000000000" pitchFamily="2" charset="2"/>
            <a:buChar char="ü"/>
          </a:pPr>
          <a:r>
            <a:rPr lang="en-US" b="0" i="0" u="none" strike="noStrike" dirty="0">
              <a:effectLst/>
              <a:latin typeface="Times New Roman" panose="02020603050405020304" pitchFamily="18" charset="0"/>
              <a:cs typeface="Times New Roman" panose="02020603050405020304" pitchFamily="18" charset="0"/>
            </a:rPr>
            <a:t>The project might seek to identify specific </a:t>
          </a:r>
          <a:r>
            <a:rPr lang="en-US" b="0" dirty="0">
              <a:solidFill>
                <a:schemeClr val="bg1"/>
              </a:solidFill>
              <a:latin typeface="Times New Roman" panose="02020603050405020304" pitchFamily="18" charset="0"/>
              <a:cs typeface="Times New Roman" panose="02020603050405020304" pitchFamily="18" charset="0"/>
            </a:rPr>
            <a:t>E</a:t>
          </a:r>
          <a:r>
            <a:rPr lang="en-US" b="0" i="0" u="none" strike="noStrike" dirty="0">
              <a:solidFill>
                <a:schemeClr val="bg1"/>
              </a:solidFill>
              <a:effectLst/>
              <a:latin typeface="Times New Roman" panose="02020603050405020304" pitchFamily="18" charset="0"/>
              <a:cs typeface="Times New Roman" panose="02020603050405020304" pitchFamily="18" charset="0"/>
            </a:rPr>
            <a:t>pigenetic markers or patterns</a:t>
          </a:r>
          <a:r>
            <a:rPr lang="en-US" b="1" i="0" u="none" strike="noStrike" dirty="0">
              <a:solidFill>
                <a:schemeClr val="tx1"/>
              </a:solidFill>
              <a:effectLst/>
              <a:latin typeface="Times New Roman" panose="02020603050405020304" pitchFamily="18" charset="0"/>
              <a:cs typeface="Times New Roman" panose="02020603050405020304" pitchFamily="18" charset="0"/>
            </a:rPr>
            <a:t> </a:t>
          </a:r>
          <a:r>
            <a:rPr lang="en-US" b="0" i="0" u="none" strike="noStrike" dirty="0">
              <a:effectLst/>
              <a:latin typeface="Times New Roman" panose="02020603050405020304" pitchFamily="18" charset="0"/>
              <a:cs typeface="Times New Roman" panose="02020603050405020304" pitchFamily="18" charset="0"/>
            </a:rPr>
            <a:t>that are associated with epigenetic  disorders. These markers could serve as diagnostic tools or potential targets for drug development.</a:t>
          </a:r>
          <a:endParaRPr lang="en-IN" dirty="0">
            <a:latin typeface="Times New Roman" panose="02020603050405020304" pitchFamily="18" charset="0"/>
            <a:cs typeface="Times New Roman" panose="02020603050405020304" pitchFamily="18" charset="0"/>
          </a:endParaRPr>
        </a:p>
      </dgm:t>
    </dgm:pt>
    <dgm:pt modelId="{A9AF9251-300C-4346-857E-B4B861E98399}" type="parTrans" cxnId="{4B73D9C8-CE3F-4FDF-819D-4D0990A0F83A}">
      <dgm:prSet/>
      <dgm:spPr/>
      <dgm:t>
        <a:bodyPr/>
        <a:lstStyle/>
        <a:p>
          <a:endParaRPr lang="en-IN"/>
        </a:p>
      </dgm:t>
    </dgm:pt>
    <dgm:pt modelId="{87C44E33-391C-4641-93CF-2EAF1A687462}" type="sibTrans" cxnId="{4B73D9C8-CE3F-4FDF-819D-4D0990A0F83A}">
      <dgm:prSet/>
      <dgm:spPr/>
      <dgm:t>
        <a:bodyPr/>
        <a:lstStyle/>
        <a:p>
          <a:endParaRPr lang="en-IN"/>
        </a:p>
      </dgm:t>
    </dgm:pt>
    <dgm:pt modelId="{725828D9-3655-4CE2-89DD-9EA7463D0AD5}">
      <dgm:prSet phldrT="[Text]"/>
      <dgm:spPr/>
      <dgm:t>
        <a:bodyPr/>
        <a:lstStyle/>
        <a:p>
          <a:pPr>
            <a:buFont typeface="Wingdings" panose="05000000000000000000" pitchFamily="2" charset="2"/>
            <a:buNone/>
          </a:pPr>
          <a:r>
            <a:rPr lang="en-US" dirty="0">
              <a:latin typeface="Times New Roman" panose="02020603050405020304" pitchFamily="18" charset="0"/>
              <a:cs typeface="Times New Roman" panose="02020603050405020304" pitchFamily="18" charset="0"/>
            </a:rPr>
            <a:t>Simulations assess how a drug candidate interacts at a molecular level, aiding in predicting its efficacy </a:t>
          </a:r>
          <a:r>
            <a:rPr lang="en-US" strike="noStrike" dirty="0">
              <a:latin typeface="Times New Roman" panose="02020603050405020304" pitchFamily="18" charset="0"/>
              <a:cs typeface="Times New Roman" panose="02020603050405020304" pitchFamily="18" charset="0"/>
            </a:rPr>
            <a:t>and side effects </a:t>
          </a:r>
          <a:r>
            <a:rPr lang="en-US" dirty="0">
              <a:latin typeface="Times New Roman" panose="02020603050405020304" pitchFamily="18" charset="0"/>
              <a:cs typeface="Times New Roman" panose="02020603050405020304" pitchFamily="18" charset="0"/>
            </a:rPr>
            <a:t>prior to experimental validation.</a:t>
          </a:r>
          <a:endParaRPr lang="en-IN" dirty="0">
            <a:latin typeface="Times New Roman" panose="02020603050405020304" pitchFamily="18" charset="0"/>
            <a:cs typeface="Times New Roman" panose="02020603050405020304" pitchFamily="18" charset="0"/>
          </a:endParaRPr>
        </a:p>
      </dgm:t>
    </dgm:pt>
    <dgm:pt modelId="{FFFEBF1B-FF11-492E-BE4E-2815EFD403F0}" type="parTrans" cxnId="{A8A71249-EFF2-4574-B742-E83600B6C696}">
      <dgm:prSet/>
      <dgm:spPr/>
      <dgm:t>
        <a:bodyPr/>
        <a:lstStyle/>
        <a:p>
          <a:endParaRPr lang="en-IN"/>
        </a:p>
      </dgm:t>
    </dgm:pt>
    <dgm:pt modelId="{64FA9325-DFF0-40C7-98AE-8D5257C90C10}" type="sibTrans" cxnId="{A8A71249-EFF2-4574-B742-E83600B6C696}">
      <dgm:prSet/>
      <dgm:spPr/>
      <dgm:t>
        <a:bodyPr/>
        <a:lstStyle/>
        <a:p>
          <a:endParaRPr lang="en-IN"/>
        </a:p>
      </dgm:t>
    </dgm:pt>
    <dgm:pt modelId="{9B711FA8-FFD5-4385-991B-DCEBA6402829}">
      <dgm:prSet custT="1"/>
      <dgm:spPr/>
      <dgm:t>
        <a:bodyPr/>
        <a:lstStyle/>
        <a:p>
          <a:pPr>
            <a:buFont typeface="Wingdings" panose="05000000000000000000" pitchFamily="2" charset="2"/>
            <a:buNone/>
          </a:pPr>
          <a:endParaRPr lang="en-US" sz="1300"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sz="1300" dirty="0">
              <a:latin typeface="Times New Roman" panose="02020603050405020304" pitchFamily="18" charset="0"/>
              <a:cs typeface="Times New Roman" panose="02020603050405020304" pitchFamily="18" charset="0"/>
            </a:rPr>
            <a:t>Assess the clinical relevance of identified gene targets by correlating their expression levels with disease severity, progression, and treatment response in patient cohorts.
</a:t>
          </a:r>
          <a:endParaRPr lang="en-IN" sz="1300" dirty="0">
            <a:latin typeface="Times New Roman" panose="02020603050405020304" pitchFamily="18" charset="0"/>
            <a:cs typeface="Times New Roman" panose="02020603050405020304" pitchFamily="18" charset="0"/>
          </a:endParaRPr>
        </a:p>
      </dgm:t>
    </dgm:pt>
    <dgm:pt modelId="{25DB02B0-4CE3-49A0-ADE4-EE2E4A6E228A}" type="parTrans" cxnId="{0F13B68A-ECFD-4FD9-BFEC-2BDA4C995DD9}">
      <dgm:prSet/>
      <dgm:spPr/>
      <dgm:t>
        <a:bodyPr/>
        <a:lstStyle/>
        <a:p>
          <a:endParaRPr lang="en-IN"/>
        </a:p>
      </dgm:t>
    </dgm:pt>
    <dgm:pt modelId="{4009BE37-9AE9-420C-B240-4D8BCB41918B}" type="sibTrans" cxnId="{0F13B68A-ECFD-4FD9-BFEC-2BDA4C995DD9}">
      <dgm:prSet/>
      <dgm:spPr/>
      <dgm:t>
        <a:bodyPr/>
        <a:lstStyle/>
        <a:p>
          <a:endParaRPr lang="en-IN"/>
        </a:p>
      </dgm:t>
    </dgm:pt>
    <dgm:pt modelId="{898AFE05-D46E-489E-838D-FAAD7097319A}">
      <dgm:prSet custT="1"/>
      <dgm:spPr/>
      <dgm:t>
        <a:bodyPr/>
        <a:lstStyle/>
        <a:p>
          <a:pPr>
            <a:buFont typeface="Wingdings" panose="05000000000000000000" pitchFamily="2" charset="2"/>
            <a:buNone/>
          </a:pPr>
          <a:r>
            <a:rPr lang="en-US" sz="1300" dirty="0">
              <a:latin typeface="Times New Roman" panose="02020603050405020304" pitchFamily="18" charset="0"/>
              <a:cs typeface="Times New Roman" panose="02020603050405020304" pitchFamily="18" charset="0"/>
            </a:rPr>
            <a:t>Explore the potential of identified gene targets as therapeutic targets for drug development, considering their </a:t>
          </a:r>
          <a:r>
            <a:rPr lang="en-US" sz="1400" dirty="0">
              <a:latin typeface="Times New Roman" panose="02020603050405020304" pitchFamily="18" charset="0"/>
              <a:cs typeface="Times New Roman" panose="02020603050405020304" pitchFamily="18" charset="0"/>
            </a:rPr>
            <a:t>biological</a:t>
          </a:r>
          <a:r>
            <a:rPr lang="en-US" sz="1300" dirty="0">
              <a:latin typeface="Times New Roman" panose="02020603050405020304" pitchFamily="18" charset="0"/>
              <a:cs typeface="Times New Roman" panose="02020603050405020304" pitchFamily="18" charset="0"/>
            </a:rPr>
            <a:t> functions and druggability.</a:t>
          </a:r>
          <a:endParaRPr lang="en-IN" sz="1300" dirty="0">
            <a:latin typeface="Times New Roman" panose="02020603050405020304" pitchFamily="18" charset="0"/>
            <a:cs typeface="Times New Roman" panose="02020603050405020304" pitchFamily="18" charset="0"/>
          </a:endParaRPr>
        </a:p>
      </dgm:t>
    </dgm:pt>
    <dgm:pt modelId="{E760BDA4-7F21-43C2-B8BF-E8DA29749DB7}" type="parTrans" cxnId="{69682138-4E8A-4783-8EEE-2CBCF1DAE20E}">
      <dgm:prSet/>
      <dgm:spPr/>
      <dgm:t>
        <a:bodyPr/>
        <a:lstStyle/>
        <a:p>
          <a:endParaRPr lang="en-IN"/>
        </a:p>
      </dgm:t>
    </dgm:pt>
    <dgm:pt modelId="{9AE7FEB4-7EFA-4D86-BE35-662FAE90C6A3}" type="sibTrans" cxnId="{69682138-4E8A-4783-8EEE-2CBCF1DAE20E}">
      <dgm:prSet/>
      <dgm:spPr/>
      <dgm:t>
        <a:bodyPr/>
        <a:lstStyle/>
        <a:p>
          <a:endParaRPr lang="en-IN"/>
        </a:p>
      </dgm:t>
    </dgm:pt>
    <dgm:pt modelId="{03B7FED2-A8BE-49C8-86A9-422BEDC561B8}" type="pres">
      <dgm:prSet presAssocID="{132519FB-1B18-41A2-8666-DBDCC88756A2}" presName="Name0" presStyleCnt="0">
        <dgm:presLayoutVars>
          <dgm:chMax val="7"/>
          <dgm:chPref val="7"/>
          <dgm:dir/>
        </dgm:presLayoutVars>
      </dgm:prSet>
      <dgm:spPr/>
    </dgm:pt>
    <dgm:pt modelId="{43CC5FEB-966A-457C-9BB7-5D2730B12340}" type="pres">
      <dgm:prSet presAssocID="{132519FB-1B18-41A2-8666-DBDCC88756A2}" presName="Name1" presStyleCnt="0"/>
      <dgm:spPr/>
    </dgm:pt>
    <dgm:pt modelId="{4950FBC4-582C-4DF9-90BA-8762334C0C28}" type="pres">
      <dgm:prSet presAssocID="{132519FB-1B18-41A2-8666-DBDCC88756A2}" presName="cycle" presStyleCnt="0"/>
      <dgm:spPr/>
    </dgm:pt>
    <dgm:pt modelId="{1601D246-F3AE-49DD-9C19-BBBDC73154F5}" type="pres">
      <dgm:prSet presAssocID="{132519FB-1B18-41A2-8666-DBDCC88756A2}" presName="srcNode" presStyleLbl="node1" presStyleIdx="0" presStyleCnt="5"/>
      <dgm:spPr/>
    </dgm:pt>
    <dgm:pt modelId="{41E9F3E5-33E2-409E-A33A-4F8529BC1876}" type="pres">
      <dgm:prSet presAssocID="{132519FB-1B18-41A2-8666-DBDCC88756A2}" presName="conn" presStyleLbl="parChTrans1D2" presStyleIdx="0" presStyleCnt="1"/>
      <dgm:spPr/>
    </dgm:pt>
    <dgm:pt modelId="{0B5AA964-E248-4337-9EC8-2A2F2AF0ACE6}" type="pres">
      <dgm:prSet presAssocID="{132519FB-1B18-41A2-8666-DBDCC88756A2}" presName="extraNode" presStyleLbl="node1" presStyleIdx="0" presStyleCnt="5"/>
      <dgm:spPr/>
    </dgm:pt>
    <dgm:pt modelId="{2A56A549-0EB7-4CF3-8192-F8D0140BE257}" type="pres">
      <dgm:prSet presAssocID="{132519FB-1B18-41A2-8666-DBDCC88756A2}" presName="dstNode" presStyleLbl="node1" presStyleIdx="0" presStyleCnt="5"/>
      <dgm:spPr/>
    </dgm:pt>
    <dgm:pt modelId="{2F3BD850-AFB3-4E3D-977F-E381CECED6A8}" type="pres">
      <dgm:prSet presAssocID="{EDA8DB6E-5148-4C74-8CA7-A242B52A26B1}" presName="text_1" presStyleLbl="node1" presStyleIdx="0" presStyleCnt="5">
        <dgm:presLayoutVars>
          <dgm:bulletEnabled val="1"/>
        </dgm:presLayoutVars>
      </dgm:prSet>
      <dgm:spPr/>
    </dgm:pt>
    <dgm:pt modelId="{33E6C624-7797-418B-B5C9-322CAB14BDCC}" type="pres">
      <dgm:prSet presAssocID="{EDA8DB6E-5148-4C74-8CA7-A242B52A26B1}" presName="accent_1" presStyleCnt="0"/>
      <dgm:spPr/>
    </dgm:pt>
    <dgm:pt modelId="{4C67EE9E-72FC-4F7C-86D8-293F92695C5E}" type="pres">
      <dgm:prSet presAssocID="{EDA8DB6E-5148-4C74-8CA7-A242B52A26B1}" presName="accentRepeatNode" presStyleLbl="solidFgAcc1" presStyleIdx="0" presStyleCnt="5" custLinFactNeighborX="-2056" custLinFactNeighborY="2519"/>
      <dgm:spPr/>
    </dgm:pt>
    <dgm:pt modelId="{4CB3E3C0-BEA6-42C3-8055-67779E200ACB}" type="pres">
      <dgm:prSet presAssocID="{14DEE375-DD7D-4ADA-9601-038BDC26FF0D}" presName="text_2" presStyleLbl="node1" presStyleIdx="1" presStyleCnt="5">
        <dgm:presLayoutVars>
          <dgm:bulletEnabled val="1"/>
        </dgm:presLayoutVars>
      </dgm:prSet>
      <dgm:spPr/>
    </dgm:pt>
    <dgm:pt modelId="{0E2FE6A4-9460-4753-9E1A-C32037CD28B6}" type="pres">
      <dgm:prSet presAssocID="{14DEE375-DD7D-4ADA-9601-038BDC26FF0D}" presName="accent_2" presStyleCnt="0"/>
      <dgm:spPr/>
    </dgm:pt>
    <dgm:pt modelId="{BDE3737B-F888-42A4-BD02-06E429BAC926}" type="pres">
      <dgm:prSet presAssocID="{14DEE375-DD7D-4ADA-9601-038BDC26FF0D}" presName="accentRepeatNode" presStyleLbl="solidFgAcc1" presStyleIdx="1" presStyleCnt="5" custLinFactNeighborX="-3622" custLinFactNeighborY="-527"/>
      <dgm:spPr/>
    </dgm:pt>
    <dgm:pt modelId="{21B13AF1-B8A0-4E05-A794-E226B1439A9F}" type="pres">
      <dgm:prSet presAssocID="{725828D9-3655-4CE2-89DD-9EA7463D0AD5}" presName="text_3" presStyleLbl="node1" presStyleIdx="2" presStyleCnt="5" custLinFactNeighborY="1271">
        <dgm:presLayoutVars>
          <dgm:bulletEnabled val="1"/>
        </dgm:presLayoutVars>
      </dgm:prSet>
      <dgm:spPr/>
    </dgm:pt>
    <dgm:pt modelId="{CDCED156-1E78-4DA7-9A6B-467EA38ADF96}" type="pres">
      <dgm:prSet presAssocID="{725828D9-3655-4CE2-89DD-9EA7463D0AD5}" presName="accent_3" presStyleCnt="0"/>
      <dgm:spPr/>
    </dgm:pt>
    <dgm:pt modelId="{6B51ED8A-3473-4B04-BBD8-65181C887743}" type="pres">
      <dgm:prSet presAssocID="{725828D9-3655-4CE2-89DD-9EA7463D0AD5}" presName="accentRepeatNode" presStyleLbl="solidFgAcc1" presStyleIdx="2" presStyleCnt="5" custLinFactNeighborX="5335" custLinFactNeighborY="-2348"/>
      <dgm:spPr/>
    </dgm:pt>
    <dgm:pt modelId="{AAEB6B2B-226C-424E-9967-CFCB07BAC92E}" type="pres">
      <dgm:prSet presAssocID="{9B711FA8-FFD5-4385-991B-DCEBA6402829}" presName="text_4" presStyleLbl="node1" presStyleIdx="3" presStyleCnt="5" custScaleY="104739">
        <dgm:presLayoutVars>
          <dgm:bulletEnabled val="1"/>
        </dgm:presLayoutVars>
      </dgm:prSet>
      <dgm:spPr/>
    </dgm:pt>
    <dgm:pt modelId="{D235E815-54EE-4129-8C2D-48820AE68CC5}" type="pres">
      <dgm:prSet presAssocID="{9B711FA8-FFD5-4385-991B-DCEBA6402829}" presName="accent_4" presStyleCnt="0"/>
      <dgm:spPr/>
    </dgm:pt>
    <dgm:pt modelId="{F9917781-8B53-4AEC-86E3-FF0EE2A1F182}" type="pres">
      <dgm:prSet presAssocID="{9B711FA8-FFD5-4385-991B-DCEBA6402829}" presName="accentRepeatNode" presStyleLbl="solidFgAcc1" presStyleIdx="3" presStyleCnt="5" custLinFactNeighborX="-66" custLinFactNeighborY="-4879"/>
      <dgm:spPr/>
    </dgm:pt>
    <dgm:pt modelId="{91478E63-45CA-48AC-BAA7-6724CCAAEA5F}" type="pres">
      <dgm:prSet presAssocID="{898AFE05-D46E-489E-838D-FAAD7097319A}" presName="text_5" presStyleLbl="node1" presStyleIdx="4" presStyleCnt="5">
        <dgm:presLayoutVars>
          <dgm:bulletEnabled val="1"/>
        </dgm:presLayoutVars>
      </dgm:prSet>
      <dgm:spPr/>
    </dgm:pt>
    <dgm:pt modelId="{881513DB-2E1A-4466-AE4E-AD0741876DDE}" type="pres">
      <dgm:prSet presAssocID="{898AFE05-D46E-489E-838D-FAAD7097319A}" presName="accent_5" presStyleCnt="0"/>
      <dgm:spPr/>
    </dgm:pt>
    <dgm:pt modelId="{BDE25FD1-F6CE-4C5C-BC8A-7644DB8AA950}" type="pres">
      <dgm:prSet presAssocID="{898AFE05-D46E-489E-838D-FAAD7097319A}" presName="accentRepeatNode" presStyleLbl="solidFgAcc1" presStyleIdx="4" presStyleCnt="5" custLinFactNeighborX="-1909" custLinFactNeighborY="4254"/>
      <dgm:spPr/>
    </dgm:pt>
  </dgm:ptLst>
  <dgm:cxnLst>
    <dgm:cxn modelId="{26B2B10C-7AA4-4CB0-8177-D1AEEB6F78D2}" type="presOf" srcId="{14DEE375-DD7D-4ADA-9601-038BDC26FF0D}" destId="{4CB3E3C0-BEA6-42C3-8055-67779E200ACB}" srcOrd="0" destOrd="0" presId="urn:microsoft.com/office/officeart/2008/layout/VerticalCurvedList"/>
    <dgm:cxn modelId="{26D04A11-A51F-43AB-87FF-6EFC73EA0D0C}" type="presOf" srcId="{725828D9-3655-4CE2-89DD-9EA7463D0AD5}" destId="{21B13AF1-B8A0-4E05-A794-E226B1439A9F}" srcOrd="0" destOrd="0" presId="urn:microsoft.com/office/officeart/2008/layout/VerticalCurvedList"/>
    <dgm:cxn modelId="{BDF43B16-754F-4419-8E59-8ABFD89913B1}" type="presOf" srcId="{132519FB-1B18-41A2-8666-DBDCC88756A2}" destId="{03B7FED2-A8BE-49C8-86A9-422BEDC561B8}" srcOrd="0" destOrd="0" presId="urn:microsoft.com/office/officeart/2008/layout/VerticalCurvedList"/>
    <dgm:cxn modelId="{CA76D722-9CB1-4A8A-B3CF-B333355A8931}" type="presOf" srcId="{EEC5AE95-E689-4047-BC22-48B68C5D1E37}" destId="{41E9F3E5-33E2-409E-A33A-4F8529BC1876}" srcOrd="0" destOrd="0" presId="urn:microsoft.com/office/officeart/2008/layout/VerticalCurvedList"/>
    <dgm:cxn modelId="{62464333-E79E-4A76-A13B-A179DBDE045C}" srcId="{132519FB-1B18-41A2-8666-DBDCC88756A2}" destId="{EDA8DB6E-5148-4C74-8CA7-A242B52A26B1}" srcOrd="0" destOrd="0" parTransId="{DFF87547-5412-4A37-956B-A86CE2C7615B}" sibTransId="{EEC5AE95-E689-4047-BC22-48B68C5D1E37}"/>
    <dgm:cxn modelId="{69682138-4E8A-4783-8EEE-2CBCF1DAE20E}" srcId="{132519FB-1B18-41A2-8666-DBDCC88756A2}" destId="{898AFE05-D46E-489E-838D-FAAD7097319A}" srcOrd="4" destOrd="0" parTransId="{E760BDA4-7F21-43C2-B8BF-E8DA29749DB7}" sibTransId="{9AE7FEB4-7EFA-4D86-BE35-662FAE90C6A3}"/>
    <dgm:cxn modelId="{A8A71249-EFF2-4574-B742-E83600B6C696}" srcId="{132519FB-1B18-41A2-8666-DBDCC88756A2}" destId="{725828D9-3655-4CE2-89DD-9EA7463D0AD5}" srcOrd="2" destOrd="0" parTransId="{FFFEBF1B-FF11-492E-BE4E-2815EFD403F0}" sibTransId="{64FA9325-DFF0-40C7-98AE-8D5257C90C10}"/>
    <dgm:cxn modelId="{0F13B68A-ECFD-4FD9-BFEC-2BDA4C995DD9}" srcId="{132519FB-1B18-41A2-8666-DBDCC88756A2}" destId="{9B711FA8-FFD5-4385-991B-DCEBA6402829}" srcOrd="3" destOrd="0" parTransId="{25DB02B0-4CE3-49A0-ADE4-EE2E4A6E228A}" sibTransId="{4009BE37-9AE9-420C-B240-4D8BCB41918B}"/>
    <dgm:cxn modelId="{ACA51D96-46B6-42F0-B925-7A3EC52321A6}" type="presOf" srcId="{EDA8DB6E-5148-4C74-8CA7-A242B52A26B1}" destId="{2F3BD850-AFB3-4E3D-977F-E381CECED6A8}" srcOrd="0" destOrd="0" presId="urn:microsoft.com/office/officeart/2008/layout/VerticalCurvedList"/>
    <dgm:cxn modelId="{D6FE0D98-5EF9-41E4-9706-4A4F980A0205}" type="presOf" srcId="{9B711FA8-FFD5-4385-991B-DCEBA6402829}" destId="{AAEB6B2B-226C-424E-9967-CFCB07BAC92E}" srcOrd="0" destOrd="0" presId="urn:microsoft.com/office/officeart/2008/layout/VerticalCurvedList"/>
    <dgm:cxn modelId="{4B73D9C8-CE3F-4FDF-819D-4D0990A0F83A}" srcId="{132519FB-1B18-41A2-8666-DBDCC88756A2}" destId="{14DEE375-DD7D-4ADA-9601-038BDC26FF0D}" srcOrd="1" destOrd="0" parTransId="{A9AF9251-300C-4346-857E-B4B861E98399}" sibTransId="{87C44E33-391C-4641-93CF-2EAF1A687462}"/>
    <dgm:cxn modelId="{30E122F5-43C8-453B-8C35-D866EFFD26DC}" type="presOf" srcId="{898AFE05-D46E-489E-838D-FAAD7097319A}" destId="{91478E63-45CA-48AC-BAA7-6724CCAAEA5F}" srcOrd="0" destOrd="0" presId="urn:microsoft.com/office/officeart/2008/layout/VerticalCurvedList"/>
    <dgm:cxn modelId="{990BD2F1-1486-4630-A090-F0E133A48B94}" type="presParOf" srcId="{03B7FED2-A8BE-49C8-86A9-422BEDC561B8}" destId="{43CC5FEB-966A-457C-9BB7-5D2730B12340}" srcOrd="0" destOrd="0" presId="urn:microsoft.com/office/officeart/2008/layout/VerticalCurvedList"/>
    <dgm:cxn modelId="{7BDBA6F7-E1B7-404A-9822-3ED7E993726C}" type="presParOf" srcId="{43CC5FEB-966A-457C-9BB7-5D2730B12340}" destId="{4950FBC4-582C-4DF9-90BA-8762334C0C28}" srcOrd="0" destOrd="0" presId="urn:microsoft.com/office/officeart/2008/layout/VerticalCurvedList"/>
    <dgm:cxn modelId="{99E24D0E-A10A-42DD-AFF0-7B3C966CD6AF}" type="presParOf" srcId="{4950FBC4-582C-4DF9-90BA-8762334C0C28}" destId="{1601D246-F3AE-49DD-9C19-BBBDC73154F5}" srcOrd="0" destOrd="0" presId="urn:microsoft.com/office/officeart/2008/layout/VerticalCurvedList"/>
    <dgm:cxn modelId="{3CCE4E60-1B7F-4EDB-A8D5-F649B47F6DBE}" type="presParOf" srcId="{4950FBC4-582C-4DF9-90BA-8762334C0C28}" destId="{41E9F3E5-33E2-409E-A33A-4F8529BC1876}" srcOrd="1" destOrd="0" presId="urn:microsoft.com/office/officeart/2008/layout/VerticalCurvedList"/>
    <dgm:cxn modelId="{C8CA953E-9D54-4937-8672-8592DAD12E05}" type="presParOf" srcId="{4950FBC4-582C-4DF9-90BA-8762334C0C28}" destId="{0B5AA964-E248-4337-9EC8-2A2F2AF0ACE6}" srcOrd="2" destOrd="0" presId="urn:microsoft.com/office/officeart/2008/layout/VerticalCurvedList"/>
    <dgm:cxn modelId="{CC033C16-D914-4D94-A2F1-BBB75169D47B}" type="presParOf" srcId="{4950FBC4-582C-4DF9-90BA-8762334C0C28}" destId="{2A56A549-0EB7-4CF3-8192-F8D0140BE257}" srcOrd="3" destOrd="0" presId="urn:microsoft.com/office/officeart/2008/layout/VerticalCurvedList"/>
    <dgm:cxn modelId="{FC858E84-94F3-4253-B772-8BF4232F9F1B}" type="presParOf" srcId="{43CC5FEB-966A-457C-9BB7-5D2730B12340}" destId="{2F3BD850-AFB3-4E3D-977F-E381CECED6A8}" srcOrd="1" destOrd="0" presId="urn:microsoft.com/office/officeart/2008/layout/VerticalCurvedList"/>
    <dgm:cxn modelId="{D0276BD2-C926-43DD-BA30-4DE4C00D1CC6}" type="presParOf" srcId="{43CC5FEB-966A-457C-9BB7-5D2730B12340}" destId="{33E6C624-7797-418B-B5C9-322CAB14BDCC}" srcOrd="2" destOrd="0" presId="urn:microsoft.com/office/officeart/2008/layout/VerticalCurvedList"/>
    <dgm:cxn modelId="{6C780899-7EB8-462C-A5D3-CBE25A5FB768}" type="presParOf" srcId="{33E6C624-7797-418B-B5C9-322CAB14BDCC}" destId="{4C67EE9E-72FC-4F7C-86D8-293F92695C5E}" srcOrd="0" destOrd="0" presId="urn:microsoft.com/office/officeart/2008/layout/VerticalCurvedList"/>
    <dgm:cxn modelId="{BF6EDD69-1878-48C9-AD8A-86380BD39242}" type="presParOf" srcId="{43CC5FEB-966A-457C-9BB7-5D2730B12340}" destId="{4CB3E3C0-BEA6-42C3-8055-67779E200ACB}" srcOrd="3" destOrd="0" presId="urn:microsoft.com/office/officeart/2008/layout/VerticalCurvedList"/>
    <dgm:cxn modelId="{0701D220-FFB2-4109-BBDE-0C0FE278D560}" type="presParOf" srcId="{43CC5FEB-966A-457C-9BB7-5D2730B12340}" destId="{0E2FE6A4-9460-4753-9E1A-C32037CD28B6}" srcOrd="4" destOrd="0" presId="urn:microsoft.com/office/officeart/2008/layout/VerticalCurvedList"/>
    <dgm:cxn modelId="{311086AE-5AA2-44B6-9E0B-7AE88909F91B}" type="presParOf" srcId="{0E2FE6A4-9460-4753-9E1A-C32037CD28B6}" destId="{BDE3737B-F888-42A4-BD02-06E429BAC926}" srcOrd="0" destOrd="0" presId="urn:microsoft.com/office/officeart/2008/layout/VerticalCurvedList"/>
    <dgm:cxn modelId="{3DBABCE2-4A47-439A-8D9E-465637796C0C}" type="presParOf" srcId="{43CC5FEB-966A-457C-9BB7-5D2730B12340}" destId="{21B13AF1-B8A0-4E05-A794-E226B1439A9F}" srcOrd="5" destOrd="0" presId="urn:microsoft.com/office/officeart/2008/layout/VerticalCurvedList"/>
    <dgm:cxn modelId="{6F11FA1B-BB42-46B6-B6F6-A52768E5FF4B}" type="presParOf" srcId="{43CC5FEB-966A-457C-9BB7-5D2730B12340}" destId="{CDCED156-1E78-4DA7-9A6B-467EA38ADF96}" srcOrd="6" destOrd="0" presId="urn:microsoft.com/office/officeart/2008/layout/VerticalCurvedList"/>
    <dgm:cxn modelId="{EC3AD2B8-6487-425A-8554-50EA3F7A607D}" type="presParOf" srcId="{CDCED156-1E78-4DA7-9A6B-467EA38ADF96}" destId="{6B51ED8A-3473-4B04-BBD8-65181C887743}" srcOrd="0" destOrd="0" presId="urn:microsoft.com/office/officeart/2008/layout/VerticalCurvedList"/>
    <dgm:cxn modelId="{0CEDCC26-C7C5-4D52-92A2-D8F776C66788}" type="presParOf" srcId="{43CC5FEB-966A-457C-9BB7-5D2730B12340}" destId="{AAEB6B2B-226C-424E-9967-CFCB07BAC92E}" srcOrd="7" destOrd="0" presId="urn:microsoft.com/office/officeart/2008/layout/VerticalCurvedList"/>
    <dgm:cxn modelId="{C13DF84A-F094-419A-A234-39AF8F3DE133}" type="presParOf" srcId="{43CC5FEB-966A-457C-9BB7-5D2730B12340}" destId="{D235E815-54EE-4129-8C2D-48820AE68CC5}" srcOrd="8" destOrd="0" presId="urn:microsoft.com/office/officeart/2008/layout/VerticalCurvedList"/>
    <dgm:cxn modelId="{B976C7B7-ADF6-4972-87AC-E2B6E25E5B49}" type="presParOf" srcId="{D235E815-54EE-4129-8C2D-48820AE68CC5}" destId="{F9917781-8B53-4AEC-86E3-FF0EE2A1F182}" srcOrd="0" destOrd="0" presId="urn:microsoft.com/office/officeart/2008/layout/VerticalCurvedList"/>
    <dgm:cxn modelId="{63EC4951-F412-421E-B2AF-FDE85B4494A3}" type="presParOf" srcId="{43CC5FEB-966A-457C-9BB7-5D2730B12340}" destId="{91478E63-45CA-48AC-BAA7-6724CCAAEA5F}" srcOrd="9" destOrd="0" presId="urn:microsoft.com/office/officeart/2008/layout/VerticalCurvedList"/>
    <dgm:cxn modelId="{0E6CC848-53ED-4FA3-8E49-A1E35779B5F5}" type="presParOf" srcId="{43CC5FEB-966A-457C-9BB7-5D2730B12340}" destId="{881513DB-2E1A-4466-AE4E-AD0741876DDE}" srcOrd="10" destOrd="0" presId="urn:microsoft.com/office/officeart/2008/layout/VerticalCurvedList"/>
    <dgm:cxn modelId="{91DCA3E0-1450-4D07-9C67-F098B739A2E8}" type="presParOf" srcId="{881513DB-2E1A-4466-AE4E-AD0741876DDE}" destId="{BDE25FD1-F6CE-4C5C-BC8A-7644DB8AA950}"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FBFC548A-5A0D-4A2C-9395-02F1D682EFA4}" type="doc">
      <dgm:prSet loTypeId="urn:microsoft.com/office/officeart/2018/2/layout/IconVerticalSolidList" loCatId="icon" qsTypeId="urn:microsoft.com/office/officeart/2005/8/quickstyle/simple5" qsCatId="simple" csTypeId="urn:microsoft.com/office/officeart/2005/8/colors/accent6_1" csCatId="accent6" phldr="1"/>
      <dgm:spPr/>
      <dgm:t>
        <a:bodyPr/>
        <a:lstStyle/>
        <a:p>
          <a:endParaRPr lang="en-IN"/>
        </a:p>
      </dgm:t>
    </dgm:pt>
    <dgm:pt modelId="{47029F9D-EDFD-44F8-B0C1-98BDF3C7A97B}">
      <dgm:prSet phldrT="[Text]" custT="1"/>
      <dgm:spPr/>
      <dgm:t>
        <a:bodyPr/>
        <a:lstStyle/>
        <a:p>
          <a:pPr>
            <a:lnSpc>
              <a:spcPct val="100000"/>
            </a:lnSpc>
          </a:pPr>
          <a:r>
            <a:rPr lang="en-US" sz="1600" b="0">
              <a:latin typeface="Times New Roman" panose="02020603050405020304" pitchFamily="18" charset="0"/>
              <a:cs typeface="Times New Roman" panose="02020603050405020304" pitchFamily="18" charset="0"/>
            </a:rPr>
            <a:t>We retrieved a set of 100 phytochemicals from the IMPPAT database and evaluated their characteristics against established criteria including</a:t>
          </a:r>
        </a:p>
      </dgm:t>
    </dgm:pt>
    <dgm:pt modelId="{38409FF0-4589-421B-BF84-1F2063797128}" type="parTrans" cxnId="{50B9EB8E-DF12-4AC4-94E5-62977430C04E}">
      <dgm:prSet/>
      <dgm:spPr/>
      <dgm:t>
        <a:bodyPr/>
        <a:lstStyle/>
        <a:p>
          <a:endParaRPr lang="en-IN"/>
        </a:p>
      </dgm:t>
    </dgm:pt>
    <dgm:pt modelId="{5FB7249C-E56F-42E4-AD64-BBAB3EE042E9}" type="sibTrans" cxnId="{50B9EB8E-DF12-4AC4-94E5-62977430C04E}">
      <dgm:prSet/>
      <dgm:spPr/>
      <dgm:t>
        <a:bodyPr/>
        <a:lstStyle/>
        <a:p>
          <a:endParaRPr lang="en-IN"/>
        </a:p>
      </dgm:t>
    </dgm:pt>
    <dgm:pt modelId="{594FBEB1-0969-4FA5-BACD-3DD0E264589F}">
      <dgm:prSet phldrT="[Text]" custT="1"/>
      <dgm:spPr/>
      <dgm:t>
        <a:bodyPr/>
        <a:lstStyle/>
        <a:p>
          <a:pPr>
            <a:lnSpc>
              <a:spcPct val="100000"/>
            </a:lnSpc>
          </a:pPr>
          <a:r>
            <a:rPr lang="en-US" sz="1600">
              <a:latin typeface="Times New Roman" panose="02020603050405020304" pitchFamily="18" charset="0"/>
              <a:cs typeface="Times New Roman" panose="02020603050405020304" pitchFamily="18" charset="0"/>
            </a:rPr>
            <a:t>Lipinski RO5 violation(zero), Ghose Rule violation(zero), GSK 4/400(good), Pfizer 3/75(good), Veber Rule(good), Egan rule(good), and QEDw (&lt; 0.8). </a:t>
          </a:r>
          <a:endParaRPr lang="en-IN" sz="1600"/>
        </a:p>
      </dgm:t>
    </dgm:pt>
    <dgm:pt modelId="{B48ED8FD-3950-47B2-BA8F-0FE182915623}" type="parTrans" cxnId="{ABB4F4FE-9404-4C85-A037-51688BC65CB0}">
      <dgm:prSet/>
      <dgm:spPr/>
      <dgm:t>
        <a:bodyPr/>
        <a:lstStyle/>
        <a:p>
          <a:endParaRPr lang="en-IN"/>
        </a:p>
      </dgm:t>
    </dgm:pt>
    <dgm:pt modelId="{C77DD1AC-F35B-4C11-85A0-BA46CB52BF2F}" type="sibTrans" cxnId="{ABB4F4FE-9404-4C85-A037-51688BC65CB0}">
      <dgm:prSet/>
      <dgm:spPr/>
      <dgm:t>
        <a:bodyPr/>
        <a:lstStyle/>
        <a:p>
          <a:endParaRPr lang="en-IN"/>
        </a:p>
      </dgm:t>
    </dgm:pt>
    <dgm:pt modelId="{F5243AF4-9D7D-41C9-8F3C-CFE765DDD218}">
      <dgm:prSet phldrT="[Text]" custT="1"/>
      <dgm:spPr/>
      <dgm:t>
        <a:bodyPr/>
        <a:lstStyle/>
        <a:p>
          <a:pPr>
            <a:lnSpc>
              <a:spcPct val="100000"/>
            </a:lnSpc>
          </a:pPr>
          <a:r>
            <a:rPr lang="en-US" sz="1600" dirty="0">
              <a:latin typeface="Times New Roman" panose="02020603050405020304" pitchFamily="18" charset="0"/>
              <a:cs typeface="Times New Roman" panose="02020603050405020304" pitchFamily="18" charset="0"/>
            </a:rPr>
            <a:t>Subsequently, protein-ligand docking was conducted using </a:t>
          </a:r>
          <a:r>
            <a:rPr lang="en-US" sz="1600" dirty="0" err="1">
              <a:latin typeface="Times New Roman" panose="02020603050405020304" pitchFamily="18" charset="0"/>
              <a:cs typeface="Times New Roman" panose="02020603050405020304" pitchFamily="18" charset="0"/>
            </a:rPr>
            <a:t>Autodock</a:t>
          </a:r>
          <a:r>
            <a:rPr lang="en-US" sz="1600" dirty="0">
              <a:latin typeface="Times New Roman" panose="02020603050405020304" pitchFamily="18" charset="0"/>
              <a:cs typeface="Times New Roman" panose="02020603050405020304" pitchFamily="18" charset="0"/>
            </a:rPr>
            <a:t> Vina for the 100 molecules, revealing that </a:t>
          </a:r>
          <a:r>
            <a:rPr lang="en-US" sz="1600" b="1" dirty="0" err="1">
              <a:latin typeface="Times New Roman" panose="02020603050405020304" pitchFamily="18" charset="0"/>
              <a:cs typeface="Times New Roman" panose="02020603050405020304" pitchFamily="18" charset="0"/>
            </a:rPr>
            <a:t>Arboreol</a:t>
          </a:r>
          <a:r>
            <a:rPr lang="en-US" sz="1600" dirty="0">
              <a:latin typeface="Times New Roman" panose="02020603050405020304" pitchFamily="18" charset="0"/>
              <a:cs typeface="Times New Roman" panose="02020603050405020304" pitchFamily="18" charset="0"/>
            </a:rPr>
            <a:t>, with an IMPPAT ID of IMPHY003954, demonstrated the most favorable affinity at -7.362 </a:t>
          </a:r>
          <a:r>
            <a:rPr lang="en-US" sz="1600" dirty="0" err="1">
              <a:latin typeface="Times New Roman" panose="02020603050405020304" pitchFamily="18" charset="0"/>
              <a:cs typeface="Times New Roman" panose="02020603050405020304" pitchFamily="18" charset="0"/>
            </a:rPr>
            <a:t>KCal</a:t>
          </a:r>
          <a:r>
            <a:rPr lang="en-US" sz="1600" dirty="0">
              <a:latin typeface="Times New Roman" panose="02020603050405020304" pitchFamily="18" charset="0"/>
              <a:cs typeface="Times New Roman" panose="02020603050405020304" pitchFamily="18" charset="0"/>
            </a:rPr>
            <a:t>/mol.</a:t>
          </a:r>
          <a:endParaRPr lang="en-IN" sz="1600" dirty="0"/>
        </a:p>
      </dgm:t>
    </dgm:pt>
    <dgm:pt modelId="{346F4514-1BB7-4091-8B2D-A4F8B6C2DC18}" type="parTrans" cxnId="{D5173EEE-3C6E-44E4-9D85-ED76173D677E}">
      <dgm:prSet/>
      <dgm:spPr/>
      <dgm:t>
        <a:bodyPr/>
        <a:lstStyle/>
        <a:p>
          <a:endParaRPr lang="en-IN"/>
        </a:p>
      </dgm:t>
    </dgm:pt>
    <dgm:pt modelId="{1E0FA68C-5232-4D24-A54A-AC41C6D6D5EF}" type="sibTrans" cxnId="{D5173EEE-3C6E-44E4-9D85-ED76173D677E}">
      <dgm:prSet/>
      <dgm:spPr/>
      <dgm:t>
        <a:bodyPr/>
        <a:lstStyle/>
        <a:p>
          <a:endParaRPr lang="en-IN"/>
        </a:p>
      </dgm:t>
    </dgm:pt>
    <dgm:pt modelId="{D398F9CD-1BE6-40F7-A9FE-60669787FA94}" type="pres">
      <dgm:prSet presAssocID="{FBFC548A-5A0D-4A2C-9395-02F1D682EFA4}" presName="root" presStyleCnt="0">
        <dgm:presLayoutVars>
          <dgm:dir/>
          <dgm:resizeHandles val="exact"/>
        </dgm:presLayoutVars>
      </dgm:prSet>
      <dgm:spPr/>
    </dgm:pt>
    <dgm:pt modelId="{3E5F5EB2-1BF7-43DD-BBD1-F33CEDBD0D76}" type="pres">
      <dgm:prSet presAssocID="{47029F9D-EDFD-44F8-B0C1-98BDF3C7A97B}" presName="compNode" presStyleCnt="0"/>
      <dgm:spPr/>
    </dgm:pt>
    <dgm:pt modelId="{CB23C123-0512-4B41-8D16-EA7DD019E76C}" type="pres">
      <dgm:prSet presAssocID="{47029F9D-EDFD-44F8-B0C1-98BDF3C7A97B}" presName="bgRect" presStyleLbl="bgShp" presStyleIdx="0" presStyleCnt="3"/>
      <dgm:spPr/>
    </dgm:pt>
    <dgm:pt modelId="{FC2D2F1C-A9C2-4BD7-9AEE-D073DAC61BF8}" type="pres">
      <dgm:prSet presAssocID="{47029F9D-EDFD-44F8-B0C1-98BDF3C7A97B}" presName="iconRect"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Kidney"/>
        </a:ext>
      </dgm:extLst>
    </dgm:pt>
    <dgm:pt modelId="{737332CB-92B5-4766-9252-E225EFB720B6}" type="pres">
      <dgm:prSet presAssocID="{47029F9D-EDFD-44F8-B0C1-98BDF3C7A97B}" presName="spaceRect" presStyleCnt="0"/>
      <dgm:spPr/>
    </dgm:pt>
    <dgm:pt modelId="{9E11549D-3061-41F4-9C98-4EBD94DD87AF}" type="pres">
      <dgm:prSet presAssocID="{47029F9D-EDFD-44F8-B0C1-98BDF3C7A97B}" presName="parTx" presStyleLbl="revTx" presStyleIdx="0" presStyleCnt="3">
        <dgm:presLayoutVars>
          <dgm:chMax val="0"/>
          <dgm:chPref val="0"/>
        </dgm:presLayoutVars>
      </dgm:prSet>
      <dgm:spPr/>
    </dgm:pt>
    <dgm:pt modelId="{0E3950B8-0983-4A80-9111-CBA88B0E23BD}" type="pres">
      <dgm:prSet presAssocID="{5FB7249C-E56F-42E4-AD64-BBAB3EE042E9}" presName="sibTrans" presStyleCnt="0"/>
      <dgm:spPr/>
    </dgm:pt>
    <dgm:pt modelId="{33FF33C4-8BE2-49BE-A05D-0E5FA041BD2C}" type="pres">
      <dgm:prSet presAssocID="{594FBEB1-0969-4FA5-BACD-3DD0E264589F}" presName="compNode" presStyleCnt="0"/>
      <dgm:spPr/>
    </dgm:pt>
    <dgm:pt modelId="{5063A18E-ED0F-470B-8498-D16E05BDE7AB}" type="pres">
      <dgm:prSet presAssocID="{594FBEB1-0969-4FA5-BACD-3DD0E264589F}" presName="bgRect" presStyleLbl="bgShp" presStyleIdx="1" presStyleCnt="3"/>
      <dgm:spPr/>
    </dgm:pt>
    <dgm:pt modelId="{BA65D3D0-781B-4227-A4CD-8CB68AE917E5}" type="pres">
      <dgm:prSet presAssocID="{594FBEB1-0969-4FA5-BACD-3DD0E264589F}" presName="iconRect" presStyleLbl="node1" presStyleIdx="1" presStyleCnt="3"/>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ecision chart"/>
        </a:ext>
      </dgm:extLst>
    </dgm:pt>
    <dgm:pt modelId="{118D8EBC-8D50-43E4-87E0-1955E8BFF5E8}" type="pres">
      <dgm:prSet presAssocID="{594FBEB1-0969-4FA5-BACD-3DD0E264589F}" presName="spaceRect" presStyleCnt="0"/>
      <dgm:spPr/>
    </dgm:pt>
    <dgm:pt modelId="{B0B51173-DE28-46A2-BD95-959A813F60D5}" type="pres">
      <dgm:prSet presAssocID="{594FBEB1-0969-4FA5-BACD-3DD0E264589F}" presName="parTx" presStyleLbl="revTx" presStyleIdx="1" presStyleCnt="3">
        <dgm:presLayoutVars>
          <dgm:chMax val="0"/>
          <dgm:chPref val="0"/>
        </dgm:presLayoutVars>
      </dgm:prSet>
      <dgm:spPr/>
    </dgm:pt>
    <dgm:pt modelId="{5EDBED4B-6D74-431E-ADD6-6E6629615D50}" type="pres">
      <dgm:prSet presAssocID="{C77DD1AC-F35B-4C11-85A0-BA46CB52BF2F}" presName="sibTrans" presStyleCnt="0"/>
      <dgm:spPr/>
    </dgm:pt>
    <dgm:pt modelId="{A4306F35-9CEB-44E1-9D43-34F196DB7D18}" type="pres">
      <dgm:prSet presAssocID="{F5243AF4-9D7D-41C9-8F3C-CFE765DDD218}" presName="compNode" presStyleCnt="0"/>
      <dgm:spPr/>
    </dgm:pt>
    <dgm:pt modelId="{4F098872-23D4-40D1-ADAB-86E0BD0F896C}" type="pres">
      <dgm:prSet presAssocID="{F5243AF4-9D7D-41C9-8F3C-CFE765DDD218}" presName="bgRect" presStyleLbl="bgShp" presStyleIdx="2" presStyleCnt="3"/>
      <dgm:spPr/>
    </dgm:pt>
    <dgm:pt modelId="{58329C15-D720-41A5-A936-6CEA07FE38E4}" type="pres">
      <dgm:prSet presAssocID="{F5243AF4-9D7D-41C9-8F3C-CFE765DDD218}"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adioactive Sign"/>
        </a:ext>
      </dgm:extLst>
    </dgm:pt>
    <dgm:pt modelId="{6A4B6A80-013D-47B9-AD3F-7A42167E9377}" type="pres">
      <dgm:prSet presAssocID="{F5243AF4-9D7D-41C9-8F3C-CFE765DDD218}" presName="spaceRect" presStyleCnt="0"/>
      <dgm:spPr/>
    </dgm:pt>
    <dgm:pt modelId="{97C67981-BE72-444D-8CA7-5833D35A225B}" type="pres">
      <dgm:prSet presAssocID="{F5243AF4-9D7D-41C9-8F3C-CFE765DDD218}" presName="parTx" presStyleLbl="revTx" presStyleIdx="2" presStyleCnt="3">
        <dgm:presLayoutVars>
          <dgm:chMax val="0"/>
          <dgm:chPref val="0"/>
        </dgm:presLayoutVars>
      </dgm:prSet>
      <dgm:spPr/>
    </dgm:pt>
  </dgm:ptLst>
  <dgm:cxnLst>
    <dgm:cxn modelId="{4CE49B1A-EBBE-4CC7-9FB5-3CB0E6F90FEC}" type="presOf" srcId="{F5243AF4-9D7D-41C9-8F3C-CFE765DDD218}" destId="{97C67981-BE72-444D-8CA7-5833D35A225B}" srcOrd="0" destOrd="0" presId="urn:microsoft.com/office/officeart/2018/2/layout/IconVerticalSolidList"/>
    <dgm:cxn modelId="{5F5E0E74-3074-4854-A482-87AF36F6787A}" type="presOf" srcId="{594FBEB1-0969-4FA5-BACD-3DD0E264589F}" destId="{B0B51173-DE28-46A2-BD95-959A813F60D5}" srcOrd="0" destOrd="0" presId="urn:microsoft.com/office/officeart/2018/2/layout/IconVerticalSolidList"/>
    <dgm:cxn modelId="{5F965477-88D5-469E-872E-106C620FFB81}" type="presOf" srcId="{47029F9D-EDFD-44F8-B0C1-98BDF3C7A97B}" destId="{9E11549D-3061-41F4-9C98-4EBD94DD87AF}" srcOrd="0" destOrd="0" presId="urn:microsoft.com/office/officeart/2018/2/layout/IconVerticalSolidList"/>
    <dgm:cxn modelId="{50B9EB8E-DF12-4AC4-94E5-62977430C04E}" srcId="{FBFC548A-5A0D-4A2C-9395-02F1D682EFA4}" destId="{47029F9D-EDFD-44F8-B0C1-98BDF3C7A97B}" srcOrd="0" destOrd="0" parTransId="{38409FF0-4589-421B-BF84-1F2063797128}" sibTransId="{5FB7249C-E56F-42E4-AD64-BBAB3EE042E9}"/>
    <dgm:cxn modelId="{6F2D7F91-3F55-4722-8855-3F45DD25C28A}" type="presOf" srcId="{FBFC548A-5A0D-4A2C-9395-02F1D682EFA4}" destId="{D398F9CD-1BE6-40F7-A9FE-60669787FA94}" srcOrd="0" destOrd="0" presId="urn:microsoft.com/office/officeart/2018/2/layout/IconVerticalSolidList"/>
    <dgm:cxn modelId="{D5173EEE-3C6E-44E4-9D85-ED76173D677E}" srcId="{FBFC548A-5A0D-4A2C-9395-02F1D682EFA4}" destId="{F5243AF4-9D7D-41C9-8F3C-CFE765DDD218}" srcOrd="2" destOrd="0" parTransId="{346F4514-1BB7-4091-8B2D-A4F8B6C2DC18}" sibTransId="{1E0FA68C-5232-4D24-A54A-AC41C6D6D5EF}"/>
    <dgm:cxn modelId="{ABB4F4FE-9404-4C85-A037-51688BC65CB0}" srcId="{FBFC548A-5A0D-4A2C-9395-02F1D682EFA4}" destId="{594FBEB1-0969-4FA5-BACD-3DD0E264589F}" srcOrd="1" destOrd="0" parTransId="{B48ED8FD-3950-47B2-BA8F-0FE182915623}" sibTransId="{C77DD1AC-F35B-4C11-85A0-BA46CB52BF2F}"/>
    <dgm:cxn modelId="{B9F63B07-8673-405E-906B-195608F1936D}" type="presParOf" srcId="{D398F9CD-1BE6-40F7-A9FE-60669787FA94}" destId="{3E5F5EB2-1BF7-43DD-BBD1-F33CEDBD0D76}" srcOrd="0" destOrd="0" presId="urn:microsoft.com/office/officeart/2018/2/layout/IconVerticalSolidList"/>
    <dgm:cxn modelId="{C000E86F-3124-4572-A0F0-E54C9162D054}" type="presParOf" srcId="{3E5F5EB2-1BF7-43DD-BBD1-F33CEDBD0D76}" destId="{CB23C123-0512-4B41-8D16-EA7DD019E76C}" srcOrd="0" destOrd="0" presId="urn:microsoft.com/office/officeart/2018/2/layout/IconVerticalSolidList"/>
    <dgm:cxn modelId="{0F72AC6B-3F0B-4F47-A90C-435C66FCD8DF}" type="presParOf" srcId="{3E5F5EB2-1BF7-43DD-BBD1-F33CEDBD0D76}" destId="{FC2D2F1C-A9C2-4BD7-9AEE-D073DAC61BF8}" srcOrd="1" destOrd="0" presId="urn:microsoft.com/office/officeart/2018/2/layout/IconVerticalSolidList"/>
    <dgm:cxn modelId="{20DB6881-7B1E-4067-A72C-CEB132E2A274}" type="presParOf" srcId="{3E5F5EB2-1BF7-43DD-BBD1-F33CEDBD0D76}" destId="{737332CB-92B5-4766-9252-E225EFB720B6}" srcOrd="2" destOrd="0" presId="urn:microsoft.com/office/officeart/2018/2/layout/IconVerticalSolidList"/>
    <dgm:cxn modelId="{BA41618F-29B2-44AC-A8A1-EDB47D65E6B2}" type="presParOf" srcId="{3E5F5EB2-1BF7-43DD-BBD1-F33CEDBD0D76}" destId="{9E11549D-3061-41F4-9C98-4EBD94DD87AF}" srcOrd="3" destOrd="0" presId="urn:microsoft.com/office/officeart/2018/2/layout/IconVerticalSolidList"/>
    <dgm:cxn modelId="{69642779-0FCB-43D7-8D42-2DC279D985F3}" type="presParOf" srcId="{D398F9CD-1BE6-40F7-A9FE-60669787FA94}" destId="{0E3950B8-0983-4A80-9111-CBA88B0E23BD}" srcOrd="1" destOrd="0" presId="urn:microsoft.com/office/officeart/2018/2/layout/IconVerticalSolidList"/>
    <dgm:cxn modelId="{879258A1-C2E3-46C8-A0E5-F148EE557CD1}" type="presParOf" srcId="{D398F9CD-1BE6-40F7-A9FE-60669787FA94}" destId="{33FF33C4-8BE2-49BE-A05D-0E5FA041BD2C}" srcOrd="2" destOrd="0" presId="urn:microsoft.com/office/officeart/2018/2/layout/IconVerticalSolidList"/>
    <dgm:cxn modelId="{DEFABB32-313C-40D3-8B35-0A9E34D2E82E}" type="presParOf" srcId="{33FF33C4-8BE2-49BE-A05D-0E5FA041BD2C}" destId="{5063A18E-ED0F-470B-8498-D16E05BDE7AB}" srcOrd="0" destOrd="0" presId="urn:microsoft.com/office/officeart/2018/2/layout/IconVerticalSolidList"/>
    <dgm:cxn modelId="{4E3C04D8-6999-4B30-AF09-6F7ADF1FBBA1}" type="presParOf" srcId="{33FF33C4-8BE2-49BE-A05D-0E5FA041BD2C}" destId="{BA65D3D0-781B-4227-A4CD-8CB68AE917E5}" srcOrd="1" destOrd="0" presId="urn:microsoft.com/office/officeart/2018/2/layout/IconVerticalSolidList"/>
    <dgm:cxn modelId="{CCA7B06D-8194-4BE2-8012-114409FC57DD}" type="presParOf" srcId="{33FF33C4-8BE2-49BE-A05D-0E5FA041BD2C}" destId="{118D8EBC-8D50-43E4-87E0-1955E8BFF5E8}" srcOrd="2" destOrd="0" presId="urn:microsoft.com/office/officeart/2018/2/layout/IconVerticalSolidList"/>
    <dgm:cxn modelId="{47D4EEF4-CE66-4B7E-86F5-7F00DA453AD6}" type="presParOf" srcId="{33FF33C4-8BE2-49BE-A05D-0E5FA041BD2C}" destId="{B0B51173-DE28-46A2-BD95-959A813F60D5}" srcOrd="3" destOrd="0" presId="urn:microsoft.com/office/officeart/2018/2/layout/IconVerticalSolidList"/>
    <dgm:cxn modelId="{23EA7DAD-A358-4FB7-A31D-E7B7D6948AD8}" type="presParOf" srcId="{D398F9CD-1BE6-40F7-A9FE-60669787FA94}" destId="{5EDBED4B-6D74-431E-ADD6-6E6629615D50}" srcOrd="3" destOrd="0" presId="urn:microsoft.com/office/officeart/2018/2/layout/IconVerticalSolidList"/>
    <dgm:cxn modelId="{E9A925E4-FD62-473F-8577-0D2BBFDB9FCF}" type="presParOf" srcId="{D398F9CD-1BE6-40F7-A9FE-60669787FA94}" destId="{A4306F35-9CEB-44E1-9D43-34F196DB7D18}" srcOrd="4" destOrd="0" presId="urn:microsoft.com/office/officeart/2018/2/layout/IconVerticalSolidList"/>
    <dgm:cxn modelId="{8DB9ABC2-E363-487E-9E5A-28512120BEA5}" type="presParOf" srcId="{A4306F35-9CEB-44E1-9D43-34F196DB7D18}" destId="{4F098872-23D4-40D1-ADAB-86E0BD0F896C}" srcOrd="0" destOrd="0" presId="urn:microsoft.com/office/officeart/2018/2/layout/IconVerticalSolidList"/>
    <dgm:cxn modelId="{90423BB7-025C-4490-8CCF-631BC5935D5E}" type="presParOf" srcId="{A4306F35-9CEB-44E1-9D43-34F196DB7D18}" destId="{58329C15-D720-41A5-A936-6CEA07FE38E4}" srcOrd="1" destOrd="0" presId="urn:microsoft.com/office/officeart/2018/2/layout/IconVerticalSolidList"/>
    <dgm:cxn modelId="{28891617-ADAA-426C-BDD6-114D145D5CD4}" type="presParOf" srcId="{A4306F35-9CEB-44E1-9D43-34F196DB7D18}" destId="{6A4B6A80-013D-47B9-AD3F-7A42167E9377}" srcOrd="2" destOrd="0" presId="urn:microsoft.com/office/officeart/2018/2/layout/IconVerticalSolidList"/>
    <dgm:cxn modelId="{3DB2257A-339F-4A99-BA76-0E0C58D5550B}" type="presParOf" srcId="{A4306F35-9CEB-44E1-9D43-34F196DB7D18}" destId="{97C67981-BE72-444D-8CA7-5833D35A225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E9F3E5-33E2-409E-A33A-4F8529BC1876}">
      <dsp:nvSpPr>
        <dsp:cNvPr id="0" name=""/>
        <dsp:cNvSpPr/>
      </dsp:nvSpPr>
      <dsp:spPr>
        <a:xfrm>
          <a:off x="-4922731" y="-754332"/>
          <a:ext cx="5862926" cy="5862926"/>
        </a:xfrm>
        <a:prstGeom prst="blockArc">
          <a:avLst>
            <a:gd name="adj1" fmla="val 18900000"/>
            <a:gd name="adj2" fmla="val 2700000"/>
            <a:gd name="adj3" fmla="val 368"/>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3BD850-AFB3-4E3D-977F-E381CECED6A8}">
      <dsp:nvSpPr>
        <dsp:cNvPr id="0" name=""/>
        <dsp:cNvSpPr/>
      </dsp:nvSpPr>
      <dsp:spPr>
        <a:xfrm>
          <a:off x="411360" y="272054"/>
          <a:ext cx="8256488" cy="54445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2163" tIns="33020" rIns="33020" bIns="33020" numCol="1" spcCol="1270" anchor="ctr" anchorCtr="0">
          <a:noAutofit/>
        </a:bodyPr>
        <a:lstStyle/>
        <a:p>
          <a:pPr marL="0" lvl="0" indent="0" algn="l" defTabSz="577850">
            <a:lnSpc>
              <a:spcPct val="90000"/>
            </a:lnSpc>
            <a:spcBef>
              <a:spcPct val="0"/>
            </a:spcBef>
            <a:spcAft>
              <a:spcPct val="35000"/>
            </a:spcAft>
            <a:buFont typeface="Wingdings" panose="05000000000000000000" pitchFamily="2" charset="2"/>
            <a:buNone/>
          </a:pPr>
          <a:r>
            <a:rPr lang="en-US" sz="1300" b="0" i="0" u="none" strike="noStrike" kern="1200" dirty="0">
              <a:effectLst/>
              <a:latin typeface="Times New Roman" panose="02020603050405020304" pitchFamily="18" charset="0"/>
              <a:cs typeface="Times New Roman" panose="02020603050405020304" pitchFamily="18" charset="0"/>
            </a:rPr>
            <a:t>To identify and characterize the epigenetic modifications that are associated with epigenetic disorders, such as </a:t>
          </a:r>
          <a:r>
            <a:rPr lang="en-US" sz="1300" b="0" i="0" u="none" strike="noStrike" kern="1200" dirty="0" err="1">
              <a:solidFill>
                <a:schemeClr val="bg1"/>
              </a:solidFill>
              <a:effectLst/>
              <a:latin typeface="Times New Roman" panose="02020603050405020304" pitchFamily="18" charset="0"/>
              <a:cs typeface="Times New Roman" panose="02020603050405020304" pitchFamily="18" charset="0"/>
            </a:rPr>
            <a:t>Rett</a:t>
          </a:r>
          <a:r>
            <a:rPr lang="en-US" sz="1300" b="0" i="0" u="none" strike="noStrike" kern="1200" dirty="0">
              <a:solidFill>
                <a:schemeClr val="bg1"/>
              </a:solidFill>
              <a:effectLst/>
              <a:latin typeface="Times New Roman" panose="02020603050405020304" pitchFamily="18" charset="0"/>
              <a:cs typeface="Times New Roman" panose="02020603050405020304" pitchFamily="18" charset="0"/>
            </a:rPr>
            <a:t> syndrome.</a:t>
          </a:r>
          <a:endParaRPr lang="en-IN" sz="1300" b="0" kern="1200" dirty="0">
            <a:solidFill>
              <a:schemeClr val="bg1"/>
            </a:solidFill>
            <a:latin typeface="Times New Roman" panose="02020603050405020304" pitchFamily="18" charset="0"/>
            <a:cs typeface="Times New Roman" panose="02020603050405020304" pitchFamily="18" charset="0"/>
          </a:endParaRPr>
        </a:p>
      </dsp:txBody>
      <dsp:txXfrm>
        <a:off x="411360" y="272054"/>
        <a:ext cx="8256488" cy="544456"/>
      </dsp:txXfrm>
    </dsp:sp>
    <dsp:sp modelId="{4C67EE9E-72FC-4F7C-86D8-293F92695C5E}">
      <dsp:nvSpPr>
        <dsp:cNvPr id="0" name=""/>
        <dsp:cNvSpPr/>
      </dsp:nvSpPr>
      <dsp:spPr>
        <a:xfrm>
          <a:off x="57082" y="221140"/>
          <a:ext cx="680570" cy="680570"/>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CB3E3C0-BEA6-42C3-8055-67779E200ACB}">
      <dsp:nvSpPr>
        <dsp:cNvPr id="0" name=""/>
        <dsp:cNvSpPr/>
      </dsp:nvSpPr>
      <dsp:spPr>
        <a:xfrm>
          <a:off x="801501" y="1088478"/>
          <a:ext cx="7866347" cy="544456"/>
        </a:xfrm>
        <a:prstGeom prst="rect">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2163" tIns="33020" rIns="33020" bIns="33020" numCol="1" spcCol="1270" anchor="ctr" anchorCtr="0">
          <a:noAutofit/>
        </a:bodyPr>
        <a:lstStyle/>
        <a:p>
          <a:pPr marL="0" lvl="0" indent="0" algn="l" defTabSz="577850">
            <a:lnSpc>
              <a:spcPct val="90000"/>
            </a:lnSpc>
            <a:spcBef>
              <a:spcPct val="0"/>
            </a:spcBef>
            <a:spcAft>
              <a:spcPct val="35000"/>
            </a:spcAft>
            <a:buFont typeface="Wingdings" panose="05000000000000000000" pitchFamily="2" charset="2"/>
            <a:buNone/>
          </a:pPr>
          <a:r>
            <a:rPr lang="en-US" sz="1300" b="0" i="0" u="none" strike="noStrike" kern="1200" dirty="0">
              <a:effectLst/>
              <a:latin typeface="Times New Roman" panose="02020603050405020304" pitchFamily="18" charset="0"/>
              <a:cs typeface="Times New Roman" panose="02020603050405020304" pitchFamily="18" charset="0"/>
            </a:rPr>
            <a:t>The project might seek to identify specific </a:t>
          </a:r>
          <a:r>
            <a:rPr lang="en-US" sz="1300" b="0" kern="1200" dirty="0">
              <a:solidFill>
                <a:schemeClr val="bg1"/>
              </a:solidFill>
              <a:latin typeface="Times New Roman" panose="02020603050405020304" pitchFamily="18" charset="0"/>
              <a:cs typeface="Times New Roman" panose="02020603050405020304" pitchFamily="18" charset="0"/>
            </a:rPr>
            <a:t>E</a:t>
          </a:r>
          <a:r>
            <a:rPr lang="en-US" sz="1300" b="0" i="0" u="none" strike="noStrike" kern="1200" dirty="0">
              <a:solidFill>
                <a:schemeClr val="bg1"/>
              </a:solidFill>
              <a:effectLst/>
              <a:latin typeface="Times New Roman" panose="02020603050405020304" pitchFamily="18" charset="0"/>
              <a:cs typeface="Times New Roman" panose="02020603050405020304" pitchFamily="18" charset="0"/>
            </a:rPr>
            <a:t>pigenetic markers or patterns</a:t>
          </a:r>
          <a:r>
            <a:rPr lang="en-US" sz="1300" b="1" i="0" u="none" strike="noStrike" kern="1200"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kern="1200" dirty="0">
              <a:effectLst/>
              <a:latin typeface="Times New Roman" panose="02020603050405020304" pitchFamily="18" charset="0"/>
              <a:cs typeface="Times New Roman" panose="02020603050405020304" pitchFamily="18" charset="0"/>
            </a:rPr>
            <a:t>that are associated with epigenetic  disorders. These markers could serve as diagnostic tools or potential targets for drug development.</a:t>
          </a:r>
          <a:endParaRPr lang="en-IN" sz="1300" kern="1200" dirty="0">
            <a:latin typeface="Times New Roman" panose="02020603050405020304" pitchFamily="18" charset="0"/>
            <a:cs typeface="Times New Roman" panose="02020603050405020304" pitchFamily="18" charset="0"/>
          </a:endParaRPr>
        </a:p>
      </dsp:txBody>
      <dsp:txXfrm>
        <a:off x="801501" y="1088478"/>
        <a:ext cx="7866347" cy="544456"/>
      </dsp:txXfrm>
    </dsp:sp>
    <dsp:sp modelId="{BDE3737B-F888-42A4-BD02-06E429BAC926}">
      <dsp:nvSpPr>
        <dsp:cNvPr id="0" name=""/>
        <dsp:cNvSpPr/>
      </dsp:nvSpPr>
      <dsp:spPr>
        <a:xfrm>
          <a:off x="436566" y="1016834"/>
          <a:ext cx="680570" cy="680570"/>
        </a:xfrm>
        <a:prstGeom prst="ellipse">
          <a:avLst/>
        </a:prstGeom>
        <a:solidFill>
          <a:schemeClr val="lt1">
            <a:hueOff val="0"/>
            <a:satOff val="0"/>
            <a:lumOff val="0"/>
            <a:alphaOff val="0"/>
          </a:schemeClr>
        </a:solidFill>
        <a:ln w="12700" cap="flat" cmpd="sng" algn="ctr">
          <a:solidFill>
            <a:schemeClr val="accent3">
              <a:hueOff val="677650"/>
              <a:satOff val="25000"/>
              <a:lumOff val="-3676"/>
              <a:alphaOff val="0"/>
            </a:schemeClr>
          </a:solidFill>
          <a:prstDash val="solid"/>
          <a:miter lim="800000"/>
        </a:ln>
        <a:effectLst/>
      </dsp:spPr>
      <dsp:style>
        <a:lnRef idx="2">
          <a:scrgbClr r="0" g="0" b="0"/>
        </a:lnRef>
        <a:fillRef idx="1">
          <a:scrgbClr r="0" g="0" b="0"/>
        </a:fillRef>
        <a:effectRef idx="0">
          <a:scrgbClr r="0" g="0" b="0"/>
        </a:effectRef>
        <a:fontRef idx="minor"/>
      </dsp:style>
    </dsp:sp>
    <dsp:sp modelId="{21B13AF1-B8A0-4E05-A794-E226B1439A9F}">
      <dsp:nvSpPr>
        <dsp:cNvPr id="0" name=""/>
        <dsp:cNvSpPr/>
      </dsp:nvSpPr>
      <dsp:spPr>
        <a:xfrm>
          <a:off x="921244" y="1911822"/>
          <a:ext cx="7746604" cy="544456"/>
        </a:xfrm>
        <a:prstGeom prst="rect">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2163" tIns="33020" rIns="33020" bIns="33020" numCol="1" spcCol="1270" anchor="ctr" anchorCtr="0">
          <a:noAutofit/>
        </a:bodyPr>
        <a:lstStyle/>
        <a:p>
          <a:pPr marL="0" lvl="0" indent="0" algn="l" defTabSz="577850">
            <a:lnSpc>
              <a:spcPct val="90000"/>
            </a:lnSpc>
            <a:spcBef>
              <a:spcPct val="0"/>
            </a:spcBef>
            <a:spcAft>
              <a:spcPct val="35000"/>
            </a:spcAft>
            <a:buFont typeface="Wingdings" panose="05000000000000000000" pitchFamily="2" charset="2"/>
            <a:buNone/>
          </a:pPr>
          <a:r>
            <a:rPr lang="en-US" sz="1300" kern="1200" dirty="0">
              <a:latin typeface="Times New Roman" panose="02020603050405020304" pitchFamily="18" charset="0"/>
              <a:cs typeface="Times New Roman" panose="02020603050405020304" pitchFamily="18" charset="0"/>
            </a:rPr>
            <a:t>Simulations assess how a drug candidate interacts at a molecular level, aiding in predicting its efficacy </a:t>
          </a:r>
          <a:r>
            <a:rPr lang="en-US" sz="1300" strike="noStrike" kern="1200" dirty="0">
              <a:latin typeface="Times New Roman" panose="02020603050405020304" pitchFamily="18" charset="0"/>
              <a:cs typeface="Times New Roman" panose="02020603050405020304" pitchFamily="18" charset="0"/>
            </a:rPr>
            <a:t>and side effects </a:t>
          </a:r>
          <a:r>
            <a:rPr lang="en-US" sz="1300" kern="1200" dirty="0">
              <a:latin typeface="Times New Roman" panose="02020603050405020304" pitchFamily="18" charset="0"/>
              <a:cs typeface="Times New Roman" panose="02020603050405020304" pitchFamily="18" charset="0"/>
            </a:rPr>
            <a:t>prior to experimental validation.</a:t>
          </a:r>
          <a:endParaRPr lang="en-IN" sz="1300" kern="1200" dirty="0">
            <a:latin typeface="Times New Roman" panose="02020603050405020304" pitchFamily="18" charset="0"/>
            <a:cs typeface="Times New Roman" panose="02020603050405020304" pitchFamily="18" charset="0"/>
          </a:endParaRPr>
        </a:p>
      </dsp:txBody>
      <dsp:txXfrm>
        <a:off x="921244" y="1911822"/>
        <a:ext cx="7746604" cy="544456"/>
      </dsp:txXfrm>
    </dsp:sp>
    <dsp:sp modelId="{6B51ED8A-3473-4B04-BBD8-65181C887743}">
      <dsp:nvSpPr>
        <dsp:cNvPr id="0" name=""/>
        <dsp:cNvSpPr/>
      </dsp:nvSpPr>
      <dsp:spPr>
        <a:xfrm>
          <a:off x="617267" y="1820865"/>
          <a:ext cx="680570" cy="680570"/>
        </a:xfrm>
        <a:prstGeom prst="ellipse">
          <a:avLst/>
        </a:prstGeom>
        <a:solidFill>
          <a:schemeClr val="lt1">
            <a:hueOff val="0"/>
            <a:satOff val="0"/>
            <a:lumOff val="0"/>
            <a:alphaOff val="0"/>
          </a:schemeClr>
        </a:solidFill>
        <a:ln w="12700" cap="flat" cmpd="sng" algn="ctr">
          <a:solidFill>
            <a:schemeClr val="accent3">
              <a:hueOff val="1355300"/>
              <a:satOff val="50000"/>
              <a:lumOff val="-7353"/>
              <a:alphaOff val="0"/>
            </a:schemeClr>
          </a:solidFill>
          <a:prstDash val="solid"/>
          <a:miter lim="800000"/>
        </a:ln>
        <a:effectLst/>
      </dsp:spPr>
      <dsp:style>
        <a:lnRef idx="2">
          <a:scrgbClr r="0" g="0" b="0"/>
        </a:lnRef>
        <a:fillRef idx="1">
          <a:scrgbClr r="0" g="0" b="0"/>
        </a:fillRef>
        <a:effectRef idx="0">
          <a:scrgbClr r="0" g="0" b="0"/>
        </a:effectRef>
        <a:fontRef idx="minor"/>
      </dsp:style>
    </dsp:sp>
    <dsp:sp modelId="{AAEB6B2B-226C-424E-9967-CFCB07BAC92E}">
      <dsp:nvSpPr>
        <dsp:cNvPr id="0" name=""/>
        <dsp:cNvSpPr/>
      </dsp:nvSpPr>
      <dsp:spPr>
        <a:xfrm>
          <a:off x="801501" y="2708425"/>
          <a:ext cx="7866347" cy="570258"/>
        </a:xfrm>
        <a:prstGeom prst="rect">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2163" tIns="33020" rIns="33020" bIns="33020" numCol="1" spcCol="1270" anchor="ctr" anchorCtr="0">
          <a:noAutofit/>
        </a:bodyPr>
        <a:lstStyle/>
        <a:p>
          <a:pPr marL="0" lvl="0" indent="0" algn="l" defTabSz="577850">
            <a:lnSpc>
              <a:spcPct val="90000"/>
            </a:lnSpc>
            <a:spcBef>
              <a:spcPct val="0"/>
            </a:spcBef>
            <a:spcAft>
              <a:spcPct val="35000"/>
            </a:spcAft>
            <a:buFont typeface="Wingdings" panose="05000000000000000000" pitchFamily="2" charset="2"/>
            <a:buNone/>
          </a:pPr>
          <a:endParaRPr lang="en-US" sz="1300" kern="1200" dirty="0">
            <a:latin typeface="Times New Roman" panose="02020603050405020304" pitchFamily="18" charset="0"/>
            <a:cs typeface="Times New Roman" panose="02020603050405020304" pitchFamily="18" charset="0"/>
          </a:endParaRPr>
        </a:p>
        <a:p>
          <a:pPr marL="0" lvl="0" indent="0" algn="l" defTabSz="577850">
            <a:lnSpc>
              <a:spcPct val="90000"/>
            </a:lnSpc>
            <a:spcBef>
              <a:spcPct val="0"/>
            </a:spcBef>
            <a:spcAft>
              <a:spcPct val="35000"/>
            </a:spcAft>
            <a:buFont typeface="Wingdings" panose="05000000000000000000" pitchFamily="2" charset="2"/>
            <a:buNone/>
          </a:pPr>
          <a:r>
            <a:rPr lang="en-US" sz="1300" kern="1200" dirty="0">
              <a:latin typeface="Times New Roman" panose="02020603050405020304" pitchFamily="18" charset="0"/>
              <a:cs typeface="Times New Roman" panose="02020603050405020304" pitchFamily="18" charset="0"/>
            </a:rPr>
            <a:t>Assess the clinical relevance of identified gene targets by correlating their expression levels with disease severity, progression, and treatment response in patient cohorts.
</a:t>
          </a:r>
          <a:endParaRPr lang="en-IN" sz="1300" kern="1200" dirty="0">
            <a:latin typeface="Times New Roman" panose="02020603050405020304" pitchFamily="18" charset="0"/>
            <a:cs typeface="Times New Roman" panose="02020603050405020304" pitchFamily="18" charset="0"/>
          </a:endParaRPr>
        </a:p>
      </dsp:txBody>
      <dsp:txXfrm>
        <a:off x="801501" y="2708425"/>
        <a:ext cx="7866347" cy="570258"/>
      </dsp:txXfrm>
    </dsp:sp>
    <dsp:sp modelId="{F9917781-8B53-4AEC-86E3-FF0EE2A1F182}">
      <dsp:nvSpPr>
        <dsp:cNvPr id="0" name=""/>
        <dsp:cNvSpPr/>
      </dsp:nvSpPr>
      <dsp:spPr>
        <a:xfrm>
          <a:off x="460767" y="2620063"/>
          <a:ext cx="680570" cy="680570"/>
        </a:xfrm>
        <a:prstGeom prst="ellipse">
          <a:avLst/>
        </a:prstGeom>
        <a:solidFill>
          <a:schemeClr val="lt1">
            <a:hueOff val="0"/>
            <a:satOff val="0"/>
            <a:lumOff val="0"/>
            <a:alphaOff val="0"/>
          </a:schemeClr>
        </a:solidFill>
        <a:ln w="12700" cap="flat" cmpd="sng" algn="ctr">
          <a:solidFill>
            <a:schemeClr val="accent3">
              <a:hueOff val="2032949"/>
              <a:satOff val="75000"/>
              <a:lumOff val="-11029"/>
              <a:alphaOff val="0"/>
            </a:schemeClr>
          </a:solidFill>
          <a:prstDash val="solid"/>
          <a:miter lim="800000"/>
        </a:ln>
        <a:effectLst/>
      </dsp:spPr>
      <dsp:style>
        <a:lnRef idx="2">
          <a:scrgbClr r="0" g="0" b="0"/>
        </a:lnRef>
        <a:fillRef idx="1">
          <a:scrgbClr r="0" g="0" b="0"/>
        </a:fillRef>
        <a:effectRef idx="0">
          <a:scrgbClr r="0" g="0" b="0"/>
        </a:effectRef>
        <a:fontRef idx="minor"/>
      </dsp:style>
    </dsp:sp>
    <dsp:sp modelId="{91478E63-45CA-48AC-BAA7-6724CCAAEA5F}">
      <dsp:nvSpPr>
        <dsp:cNvPr id="0" name=""/>
        <dsp:cNvSpPr/>
      </dsp:nvSpPr>
      <dsp:spPr>
        <a:xfrm>
          <a:off x="411360" y="3537749"/>
          <a:ext cx="8256488" cy="544456"/>
        </a:xfrm>
        <a:prstGeom prst="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2163" tIns="33020" rIns="33020" bIns="33020" numCol="1" spcCol="1270" anchor="ctr" anchorCtr="0">
          <a:noAutofit/>
        </a:bodyPr>
        <a:lstStyle/>
        <a:p>
          <a:pPr marL="0" lvl="0" indent="0" algn="l" defTabSz="577850">
            <a:lnSpc>
              <a:spcPct val="90000"/>
            </a:lnSpc>
            <a:spcBef>
              <a:spcPct val="0"/>
            </a:spcBef>
            <a:spcAft>
              <a:spcPct val="35000"/>
            </a:spcAft>
            <a:buFont typeface="Wingdings" panose="05000000000000000000" pitchFamily="2" charset="2"/>
            <a:buNone/>
          </a:pPr>
          <a:r>
            <a:rPr lang="en-US" sz="1300" kern="1200" dirty="0">
              <a:latin typeface="Times New Roman" panose="02020603050405020304" pitchFamily="18" charset="0"/>
              <a:cs typeface="Times New Roman" panose="02020603050405020304" pitchFamily="18" charset="0"/>
            </a:rPr>
            <a:t>Explore the potential of identified gene targets as therapeutic targets for drug development, considering their </a:t>
          </a:r>
          <a:r>
            <a:rPr lang="en-US" sz="1400" kern="1200" dirty="0">
              <a:latin typeface="Times New Roman" panose="02020603050405020304" pitchFamily="18" charset="0"/>
              <a:cs typeface="Times New Roman" panose="02020603050405020304" pitchFamily="18" charset="0"/>
            </a:rPr>
            <a:t>biological</a:t>
          </a:r>
          <a:r>
            <a:rPr lang="en-US" sz="1300" kern="1200" dirty="0">
              <a:latin typeface="Times New Roman" panose="02020603050405020304" pitchFamily="18" charset="0"/>
              <a:cs typeface="Times New Roman" panose="02020603050405020304" pitchFamily="18" charset="0"/>
            </a:rPr>
            <a:t> functions and druggability.</a:t>
          </a:r>
          <a:endParaRPr lang="en-IN" sz="1300" kern="1200" dirty="0">
            <a:latin typeface="Times New Roman" panose="02020603050405020304" pitchFamily="18" charset="0"/>
            <a:cs typeface="Times New Roman" panose="02020603050405020304" pitchFamily="18" charset="0"/>
          </a:endParaRPr>
        </a:p>
      </dsp:txBody>
      <dsp:txXfrm>
        <a:off x="411360" y="3537749"/>
        <a:ext cx="8256488" cy="544456"/>
      </dsp:txXfrm>
    </dsp:sp>
    <dsp:sp modelId="{BDE25FD1-F6CE-4C5C-BC8A-7644DB8AA950}">
      <dsp:nvSpPr>
        <dsp:cNvPr id="0" name=""/>
        <dsp:cNvSpPr/>
      </dsp:nvSpPr>
      <dsp:spPr>
        <a:xfrm>
          <a:off x="58082" y="3498644"/>
          <a:ext cx="680570" cy="680570"/>
        </a:xfrm>
        <a:prstGeom prst="ellipse">
          <a:avLst/>
        </a:prstGeom>
        <a:solidFill>
          <a:schemeClr val="lt1">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3C123-0512-4B41-8D16-EA7DD019E76C}">
      <dsp:nvSpPr>
        <dsp:cNvPr id="0" name=""/>
        <dsp:cNvSpPr/>
      </dsp:nvSpPr>
      <dsp:spPr>
        <a:xfrm>
          <a:off x="0" y="399"/>
          <a:ext cx="7829810" cy="935547"/>
        </a:xfrm>
        <a:prstGeom prst="roundRect">
          <a:avLst>
            <a:gd name="adj" fmla="val 10000"/>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FC2D2F1C-A9C2-4BD7-9AEE-D073DAC61BF8}">
      <dsp:nvSpPr>
        <dsp:cNvPr id="0" name=""/>
        <dsp:cNvSpPr/>
      </dsp:nvSpPr>
      <dsp:spPr>
        <a:xfrm>
          <a:off x="283003" y="210897"/>
          <a:ext cx="514550" cy="514550"/>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E11549D-3061-41F4-9C98-4EBD94DD87AF}">
      <dsp:nvSpPr>
        <dsp:cNvPr id="0" name=""/>
        <dsp:cNvSpPr/>
      </dsp:nvSpPr>
      <dsp:spPr>
        <a:xfrm>
          <a:off x="1080557" y="399"/>
          <a:ext cx="6749252" cy="935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12" tIns="99012" rIns="99012" bIns="99012" numCol="1" spcCol="1270" anchor="ctr" anchorCtr="0">
          <a:noAutofit/>
        </a:bodyPr>
        <a:lstStyle/>
        <a:p>
          <a:pPr marL="0" lvl="0" indent="0" algn="l" defTabSz="711200">
            <a:lnSpc>
              <a:spcPct val="100000"/>
            </a:lnSpc>
            <a:spcBef>
              <a:spcPct val="0"/>
            </a:spcBef>
            <a:spcAft>
              <a:spcPct val="35000"/>
            </a:spcAft>
            <a:buNone/>
          </a:pPr>
          <a:r>
            <a:rPr lang="en-US" sz="1600" b="0" kern="1200">
              <a:latin typeface="Times New Roman" panose="02020603050405020304" pitchFamily="18" charset="0"/>
              <a:cs typeface="Times New Roman" panose="02020603050405020304" pitchFamily="18" charset="0"/>
            </a:rPr>
            <a:t>We retrieved a set of 100 phytochemicals from the IMPPAT database and evaluated their characteristics against established criteria including</a:t>
          </a:r>
        </a:p>
      </dsp:txBody>
      <dsp:txXfrm>
        <a:off x="1080557" y="399"/>
        <a:ext cx="6749252" cy="935547"/>
      </dsp:txXfrm>
    </dsp:sp>
    <dsp:sp modelId="{5063A18E-ED0F-470B-8498-D16E05BDE7AB}">
      <dsp:nvSpPr>
        <dsp:cNvPr id="0" name=""/>
        <dsp:cNvSpPr/>
      </dsp:nvSpPr>
      <dsp:spPr>
        <a:xfrm>
          <a:off x="0" y="1169833"/>
          <a:ext cx="7829810" cy="935547"/>
        </a:xfrm>
        <a:prstGeom prst="roundRect">
          <a:avLst>
            <a:gd name="adj" fmla="val 10000"/>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BA65D3D0-781B-4227-A4CD-8CB68AE917E5}">
      <dsp:nvSpPr>
        <dsp:cNvPr id="0" name=""/>
        <dsp:cNvSpPr/>
      </dsp:nvSpPr>
      <dsp:spPr>
        <a:xfrm>
          <a:off x="283003" y="1380332"/>
          <a:ext cx="514550" cy="514550"/>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0B51173-DE28-46A2-BD95-959A813F60D5}">
      <dsp:nvSpPr>
        <dsp:cNvPr id="0" name=""/>
        <dsp:cNvSpPr/>
      </dsp:nvSpPr>
      <dsp:spPr>
        <a:xfrm>
          <a:off x="1080557" y="1169833"/>
          <a:ext cx="6749252" cy="935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12" tIns="99012" rIns="99012" bIns="99012" numCol="1" spcCol="1270" anchor="ctr" anchorCtr="0">
          <a:noAutofit/>
        </a:bodyPr>
        <a:lstStyle/>
        <a:p>
          <a:pPr marL="0" lvl="0" indent="0" algn="l" defTabSz="711200">
            <a:lnSpc>
              <a:spcPct val="100000"/>
            </a:lnSpc>
            <a:spcBef>
              <a:spcPct val="0"/>
            </a:spcBef>
            <a:spcAft>
              <a:spcPct val="35000"/>
            </a:spcAft>
            <a:buNone/>
          </a:pPr>
          <a:r>
            <a:rPr lang="en-US" sz="1600" kern="1200">
              <a:latin typeface="Times New Roman" panose="02020603050405020304" pitchFamily="18" charset="0"/>
              <a:cs typeface="Times New Roman" panose="02020603050405020304" pitchFamily="18" charset="0"/>
            </a:rPr>
            <a:t>Lipinski RO5 violation(zero), Ghose Rule violation(zero), GSK 4/400(good), Pfizer 3/75(good), Veber Rule(good), Egan rule(good), and QEDw (&lt; 0.8). </a:t>
          </a:r>
          <a:endParaRPr lang="en-IN" sz="1600" kern="1200"/>
        </a:p>
      </dsp:txBody>
      <dsp:txXfrm>
        <a:off x="1080557" y="1169833"/>
        <a:ext cx="6749252" cy="935547"/>
      </dsp:txXfrm>
    </dsp:sp>
    <dsp:sp modelId="{4F098872-23D4-40D1-ADAB-86E0BD0F896C}">
      <dsp:nvSpPr>
        <dsp:cNvPr id="0" name=""/>
        <dsp:cNvSpPr/>
      </dsp:nvSpPr>
      <dsp:spPr>
        <a:xfrm>
          <a:off x="0" y="2339267"/>
          <a:ext cx="7829810" cy="935547"/>
        </a:xfrm>
        <a:prstGeom prst="roundRect">
          <a:avLst>
            <a:gd name="adj" fmla="val 10000"/>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58329C15-D720-41A5-A936-6CEA07FE38E4}">
      <dsp:nvSpPr>
        <dsp:cNvPr id="0" name=""/>
        <dsp:cNvSpPr/>
      </dsp:nvSpPr>
      <dsp:spPr>
        <a:xfrm>
          <a:off x="283003" y="2549766"/>
          <a:ext cx="514550" cy="514550"/>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7C67981-BE72-444D-8CA7-5833D35A225B}">
      <dsp:nvSpPr>
        <dsp:cNvPr id="0" name=""/>
        <dsp:cNvSpPr/>
      </dsp:nvSpPr>
      <dsp:spPr>
        <a:xfrm>
          <a:off x="1080557" y="2339267"/>
          <a:ext cx="6749252" cy="935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12" tIns="99012" rIns="99012" bIns="99012"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Subsequently, protein-ligand docking was conducted using </a:t>
          </a:r>
          <a:r>
            <a:rPr lang="en-US" sz="1600" kern="1200" dirty="0" err="1">
              <a:latin typeface="Times New Roman" panose="02020603050405020304" pitchFamily="18" charset="0"/>
              <a:cs typeface="Times New Roman" panose="02020603050405020304" pitchFamily="18" charset="0"/>
            </a:rPr>
            <a:t>Autodock</a:t>
          </a:r>
          <a:r>
            <a:rPr lang="en-US" sz="1600" kern="1200" dirty="0">
              <a:latin typeface="Times New Roman" panose="02020603050405020304" pitchFamily="18" charset="0"/>
              <a:cs typeface="Times New Roman" panose="02020603050405020304" pitchFamily="18" charset="0"/>
            </a:rPr>
            <a:t> Vina for the 100 molecules, revealing that </a:t>
          </a:r>
          <a:r>
            <a:rPr lang="en-US" sz="1600" b="1" kern="1200" dirty="0" err="1">
              <a:latin typeface="Times New Roman" panose="02020603050405020304" pitchFamily="18" charset="0"/>
              <a:cs typeface="Times New Roman" panose="02020603050405020304" pitchFamily="18" charset="0"/>
            </a:rPr>
            <a:t>Arboreol</a:t>
          </a:r>
          <a:r>
            <a:rPr lang="en-US" sz="1600" kern="1200" dirty="0">
              <a:latin typeface="Times New Roman" panose="02020603050405020304" pitchFamily="18" charset="0"/>
              <a:cs typeface="Times New Roman" panose="02020603050405020304" pitchFamily="18" charset="0"/>
            </a:rPr>
            <a:t>, with an IMPPAT ID of IMPHY003954, demonstrated the most favorable affinity at -7.362 </a:t>
          </a:r>
          <a:r>
            <a:rPr lang="en-US" sz="1600" kern="1200" dirty="0" err="1">
              <a:latin typeface="Times New Roman" panose="02020603050405020304" pitchFamily="18" charset="0"/>
              <a:cs typeface="Times New Roman" panose="02020603050405020304" pitchFamily="18" charset="0"/>
            </a:rPr>
            <a:t>KCal</a:t>
          </a:r>
          <a:r>
            <a:rPr lang="en-US" sz="1600" kern="1200" dirty="0">
              <a:latin typeface="Times New Roman" panose="02020603050405020304" pitchFamily="18" charset="0"/>
              <a:cs typeface="Times New Roman" panose="02020603050405020304" pitchFamily="18" charset="0"/>
            </a:rPr>
            <a:t>/mol.</a:t>
          </a:r>
          <a:endParaRPr lang="en-IN" sz="1600" kern="1200" dirty="0"/>
        </a:p>
      </dsp:txBody>
      <dsp:txXfrm>
        <a:off x="1080557" y="2339267"/>
        <a:ext cx="6749252" cy="935547"/>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87C0A-174A-3CCB-A6FA-53C941FEC82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3CD089B-998F-5823-BC4E-3E13487A68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1BF7B09-4DD0-B54D-80B0-3E088D43E195}"/>
              </a:ext>
            </a:extLst>
          </p:cNvPr>
          <p:cNvSpPr>
            <a:spLocks noGrp="1"/>
          </p:cNvSpPr>
          <p:nvPr>
            <p:ph type="dt" sz="half" idx="10"/>
          </p:nvPr>
        </p:nvSpPr>
        <p:spPr/>
        <p:txBody>
          <a:bodyPr/>
          <a:lstStyle/>
          <a:p>
            <a:fld id="{CAEC82B0-FACC-4357-985F-67AAEECA9B40}" type="datetimeFigureOut">
              <a:rPr lang="en-IN" smtClean="0"/>
              <a:t>08-05-2024</a:t>
            </a:fld>
            <a:endParaRPr lang="en-IN"/>
          </a:p>
        </p:txBody>
      </p:sp>
      <p:sp>
        <p:nvSpPr>
          <p:cNvPr id="5" name="Footer Placeholder 4">
            <a:extLst>
              <a:ext uri="{FF2B5EF4-FFF2-40B4-BE49-F238E27FC236}">
                <a16:creationId xmlns:a16="http://schemas.microsoft.com/office/drawing/2014/main" id="{0FAB476C-3884-8838-B38B-6D2FDFEFBB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D35133-E7DE-E340-CE84-D91163C53788}"/>
              </a:ext>
            </a:extLst>
          </p:cNvPr>
          <p:cNvSpPr>
            <a:spLocks noGrp="1"/>
          </p:cNvSpPr>
          <p:nvPr>
            <p:ph type="sldNum" sz="quarter" idx="12"/>
          </p:nvPr>
        </p:nvSpPr>
        <p:spPr/>
        <p:txBody>
          <a:bodyPr/>
          <a:lstStyle/>
          <a:p>
            <a:fld id="{7A8C3426-200D-4285-87F7-E7621589FA4F}" type="slidenum">
              <a:rPr lang="en-IN" smtClean="0"/>
              <a:t>‹#›</a:t>
            </a:fld>
            <a:endParaRPr lang="en-IN"/>
          </a:p>
        </p:txBody>
      </p:sp>
    </p:spTree>
    <p:extLst>
      <p:ext uri="{BB962C8B-B14F-4D97-AF65-F5344CB8AC3E}">
        <p14:creationId xmlns:p14="http://schemas.microsoft.com/office/powerpoint/2010/main" val="2642623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36A68-5A0B-4C50-9437-6BAF079CE4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CA4529-86C3-72B9-5758-0BAA4FF4B4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097589-A8A5-48B2-E771-56E10D446F5B}"/>
              </a:ext>
            </a:extLst>
          </p:cNvPr>
          <p:cNvSpPr>
            <a:spLocks noGrp="1"/>
          </p:cNvSpPr>
          <p:nvPr>
            <p:ph type="dt" sz="half" idx="10"/>
          </p:nvPr>
        </p:nvSpPr>
        <p:spPr/>
        <p:txBody>
          <a:bodyPr/>
          <a:lstStyle/>
          <a:p>
            <a:fld id="{CAEC82B0-FACC-4357-985F-67AAEECA9B40}" type="datetimeFigureOut">
              <a:rPr lang="en-IN" smtClean="0"/>
              <a:t>08-05-2024</a:t>
            </a:fld>
            <a:endParaRPr lang="en-IN"/>
          </a:p>
        </p:txBody>
      </p:sp>
      <p:sp>
        <p:nvSpPr>
          <p:cNvPr id="5" name="Footer Placeholder 4">
            <a:extLst>
              <a:ext uri="{FF2B5EF4-FFF2-40B4-BE49-F238E27FC236}">
                <a16:creationId xmlns:a16="http://schemas.microsoft.com/office/drawing/2014/main" id="{CC3857A3-007F-F85C-EEF9-5C932461A8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7FD41C-3520-6B1D-D356-931F836D4627}"/>
              </a:ext>
            </a:extLst>
          </p:cNvPr>
          <p:cNvSpPr>
            <a:spLocks noGrp="1"/>
          </p:cNvSpPr>
          <p:nvPr>
            <p:ph type="sldNum" sz="quarter" idx="12"/>
          </p:nvPr>
        </p:nvSpPr>
        <p:spPr/>
        <p:txBody>
          <a:bodyPr/>
          <a:lstStyle/>
          <a:p>
            <a:fld id="{7A8C3426-200D-4285-87F7-E7621589FA4F}" type="slidenum">
              <a:rPr lang="en-IN" smtClean="0"/>
              <a:t>‹#›</a:t>
            </a:fld>
            <a:endParaRPr lang="en-IN"/>
          </a:p>
        </p:txBody>
      </p:sp>
    </p:spTree>
    <p:extLst>
      <p:ext uri="{BB962C8B-B14F-4D97-AF65-F5344CB8AC3E}">
        <p14:creationId xmlns:p14="http://schemas.microsoft.com/office/powerpoint/2010/main" val="2250206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0222C-2A5C-7AD1-B4AC-7254F1186B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CA3AAC-31A7-D7F1-2745-36979BD74B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6F8427-F707-AA96-EAD7-54B58F890958}"/>
              </a:ext>
            </a:extLst>
          </p:cNvPr>
          <p:cNvSpPr>
            <a:spLocks noGrp="1"/>
          </p:cNvSpPr>
          <p:nvPr>
            <p:ph type="dt" sz="half" idx="10"/>
          </p:nvPr>
        </p:nvSpPr>
        <p:spPr/>
        <p:txBody>
          <a:bodyPr/>
          <a:lstStyle/>
          <a:p>
            <a:fld id="{CAEC82B0-FACC-4357-985F-67AAEECA9B40}" type="datetimeFigureOut">
              <a:rPr lang="en-IN" smtClean="0"/>
              <a:t>08-05-2024</a:t>
            </a:fld>
            <a:endParaRPr lang="en-IN"/>
          </a:p>
        </p:txBody>
      </p:sp>
      <p:sp>
        <p:nvSpPr>
          <p:cNvPr id="5" name="Footer Placeholder 4">
            <a:extLst>
              <a:ext uri="{FF2B5EF4-FFF2-40B4-BE49-F238E27FC236}">
                <a16:creationId xmlns:a16="http://schemas.microsoft.com/office/drawing/2014/main" id="{FC71A0B4-9ED4-1D21-2299-7CF7CBCD1F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20D2BE-CCB7-D79A-728C-E4872E81E4B2}"/>
              </a:ext>
            </a:extLst>
          </p:cNvPr>
          <p:cNvSpPr>
            <a:spLocks noGrp="1"/>
          </p:cNvSpPr>
          <p:nvPr>
            <p:ph type="sldNum" sz="quarter" idx="12"/>
          </p:nvPr>
        </p:nvSpPr>
        <p:spPr/>
        <p:txBody>
          <a:bodyPr/>
          <a:lstStyle/>
          <a:p>
            <a:fld id="{7A8C3426-200D-4285-87F7-E7621589FA4F}" type="slidenum">
              <a:rPr lang="en-IN" smtClean="0"/>
              <a:t>‹#›</a:t>
            </a:fld>
            <a:endParaRPr lang="en-IN"/>
          </a:p>
        </p:txBody>
      </p:sp>
    </p:spTree>
    <p:extLst>
      <p:ext uri="{BB962C8B-B14F-4D97-AF65-F5344CB8AC3E}">
        <p14:creationId xmlns:p14="http://schemas.microsoft.com/office/powerpoint/2010/main" val="689681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019E3-1386-210F-0CB9-19BC33BDBF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CAE54FB-23F9-232E-00C8-2FBCEFFB62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97AEC56-DE0C-7681-B6B5-6BA43DB787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91EB17-E459-C858-64FE-5D977490B3CB}"/>
              </a:ext>
            </a:extLst>
          </p:cNvPr>
          <p:cNvSpPr>
            <a:spLocks noGrp="1"/>
          </p:cNvSpPr>
          <p:nvPr>
            <p:ph type="dt" sz="half" idx="10"/>
          </p:nvPr>
        </p:nvSpPr>
        <p:spPr/>
        <p:txBody>
          <a:bodyPr/>
          <a:lstStyle/>
          <a:p>
            <a:fld id="{CAEC82B0-FACC-4357-985F-67AAEECA9B40}" type="datetimeFigureOut">
              <a:rPr lang="en-IN" smtClean="0"/>
              <a:t>08-05-2024</a:t>
            </a:fld>
            <a:endParaRPr lang="en-IN"/>
          </a:p>
        </p:txBody>
      </p:sp>
      <p:sp>
        <p:nvSpPr>
          <p:cNvPr id="6" name="Footer Placeholder 5">
            <a:extLst>
              <a:ext uri="{FF2B5EF4-FFF2-40B4-BE49-F238E27FC236}">
                <a16:creationId xmlns:a16="http://schemas.microsoft.com/office/drawing/2014/main" id="{5A7BD264-F405-9B42-8A7B-BD2FDF00ED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4FFCD9-6D19-CE6D-7A28-6B58F5D12B97}"/>
              </a:ext>
            </a:extLst>
          </p:cNvPr>
          <p:cNvSpPr>
            <a:spLocks noGrp="1"/>
          </p:cNvSpPr>
          <p:nvPr>
            <p:ph type="sldNum" sz="quarter" idx="12"/>
          </p:nvPr>
        </p:nvSpPr>
        <p:spPr/>
        <p:txBody>
          <a:bodyPr/>
          <a:lstStyle/>
          <a:p>
            <a:fld id="{7A8C3426-200D-4285-87F7-E7621589FA4F}" type="slidenum">
              <a:rPr lang="en-IN" smtClean="0"/>
              <a:t>‹#›</a:t>
            </a:fld>
            <a:endParaRPr lang="en-IN"/>
          </a:p>
        </p:txBody>
      </p:sp>
    </p:spTree>
    <p:extLst>
      <p:ext uri="{BB962C8B-B14F-4D97-AF65-F5344CB8AC3E}">
        <p14:creationId xmlns:p14="http://schemas.microsoft.com/office/powerpoint/2010/main" val="563128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49A7F-4F41-929B-C792-400F8A5C463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5E7865-DC4B-A289-976F-FA14B3D4BF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9ADD79-BA33-621A-3669-C726E74A8D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FF6E6C6-BAA6-9A22-9838-2D1701AAD2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0F5E73-DC68-E34B-3D3E-33C01CE456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AFAB93-3155-1F40-E3DF-EA7EFC34FFAC}"/>
              </a:ext>
            </a:extLst>
          </p:cNvPr>
          <p:cNvSpPr>
            <a:spLocks noGrp="1"/>
          </p:cNvSpPr>
          <p:nvPr>
            <p:ph type="dt" sz="half" idx="10"/>
          </p:nvPr>
        </p:nvSpPr>
        <p:spPr/>
        <p:txBody>
          <a:bodyPr/>
          <a:lstStyle/>
          <a:p>
            <a:fld id="{CAEC82B0-FACC-4357-985F-67AAEECA9B40}" type="datetimeFigureOut">
              <a:rPr lang="en-IN" smtClean="0"/>
              <a:t>08-05-2024</a:t>
            </a:fld>
            <a:endParaRPr lang="en-IN"/>
          </a:p>
        </p:txBody>
      </p:sp>
      <p:sp>
        <p:nvSpPr>
          <p:cNvPr id="8" name="Footer Placeholder 7">
            <a:extLst>
              <a:ext uri="{FF2B5EF4-FFF2-40B4-BE49-F238E27FC236}">
                <a16:creationId xmlns:a16="http://schemas.microsoft.com/office/drawing/2014/main" id="{293B5E82-C945-352C-C655-C0FDDA2CBF3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C7E4AAD-DF66-BB60-03B0-33F55EF5EF76}"/>
              </a:ext>
            </a:extLst>
          </p:cNvPr>
          <p:cNvSpPr>
            <a:spLocks noGrp="1"/>
          </p:cNvSpPr>
          <p:nvPr>
            <p:ph type="sldNum" sz="quarter" idx="12"/>
          </p:nvPr>
        </p:nvSpPr>
        <p:spPr/>
        <p:txBody>
          <a:bodyPr/>
          <a:lstStyle/>
          <a:p>
            <a:fld id="{7A8C3426-200D-4285-87F7-E7621589FA4F}" type="slidenum">
              <a:rPr lang="en-IN" smtClean="0"/>
              <a:t>‹#›</a:t>
            </a:fld>
            <a:endParaRPr lang="en-IN"/>
          </a:p>
        </p:txBody>
      </p:sp>
    </p:spTree>
    <p:extLst>
      <p:ext uri="{BB962C8B-B14F-4D97-AF65-F5344CB8AC3E}">
        <p14:creationId xmlns:p14="http://schemas.microsoft.com/office/powerpoint/2010/main" val="982856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6A12D-0CEA-FC8F-43B9-DD40A4BBE03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93DC885-B25B-C2EC-844A-AE3535AB3D0B}"/>
              </a:ext>
            </a:extLst>
          </p:cNvPr>
          <p:cNvSpPr>
            <a:spLocks noGrp="1"/>
          </p:cNvSpPr>
          <p:nvPr>
            <p:ph type="dt" sz="half" idx="10"/>
          </p:nvPr>
        </p:nvSpPr>
        <p:spPr/>
        <p:txBody>
          <a:bodyPr/>
          <a:lstStyle/>
          <a:p>
            <a:fld id="{CAEC82B0-FACC-4357-985F-67AAEECA9B40}" type="datetimeFigureOut">
              <a:rPr lang="en-IN" smtClean="0"/>
              <a:t>08-05-2024</a:t>
            </a:fld>
            <a:endParaRPr lang="en-IN"/>
          </a:p>
        </p:txBody>
      </p:sp>
      <p:sp>
        <p:nvSpPr>
          <p:cNvPr id="4" name="Footer Placeholder 3">
            <a:extLst>
              <a:ext uri="{FF2B5EF4-FFF2-40B4-BE49-F238E27FC236}">
                <a16:creationId xmlns:a16="http://schemas.microsoft.com/office/drawing/2014/main" id="{550E4C05-471A-FF01-92A3-4DC6CA6FB0A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1E28CE4-B7D2-06E3-22B5-CAD1F84C3F33}"/>
              </a:ext>
            </a:extLst>
          </p:cNvPr>
          <p:cNvSpPr>
            <a:spLocks noGrp="1"/>
          </p:cNvSpPr>
          <p:nvPr>
            <p:ph type="sldNum" sz="quarter" idx="12"/>
          </p:nvPr>
        </p:nvSpPr>
        <p:spPr/>
        <p:txBody>
          <a:bodyPr/>
          <a:lstStyle/>
          <a:p>
            <a:fld id="{7A8C3426-200D-4285-87F7-E7621589FA4F}" type="slidenum">
              <a:rPr lang="en-IN" smtClean="0"/>
              <a:t>‹#›</a:t>
            </a:fld>
            <a:endParaRPr lang="en-IN"/>
          </a:p>
        </p:txBody>
      </p:sp>
    </p:spTree>
    <p:extLst>
      <p:ext uri="{BB962C8B-B14F-4D97-AF65-F5344CB8AC3E}">
        <p14:creationId xmlns:p14="http://schemas.microsoft.com/office/powerpoint/2010/main" val="3285833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8124C9-4DEA-D0E1-3128-A42797D3F0C5}"/>
              </a:ext>
            </a:extLst>
          </p:cNvPr>
          <p:cNvSpPr>
            <a:spLocks noGrp="1"/>
          </p:cNvSpPr>
          <p:nvPr>
            <p:ph type="dt" sz="half" idx="10"/>
          </p:nvPr>
        </p:nvSpPr>
        <p:spPr/>
        <p:txBody>
          <a:bodyPr/>
          <a:lstStyle/>
          <a:p>
            <a:fld id="{CAEC82B0-FACC-4357-985F-67AAEECA9B40}" type="datetimeFigureOut">
              <a:rPr lang="en-IN" smtClean="0"/>
              <a:t>08-05-2024</a:t>
            </a:fld>
            <a:endParaRPr lang="en-IN"/>
          </a:p>
        </p:txBody>
      </p:sp>
      <p:sp>
        <p:nvSpPr>
          <p:cNvPr id="3" name="Footer Placeholder 2">
            <a:extLst>
              <a:ext uri="{FF2B5EF4-FFF2-40B4-BE49-F238E27FC236}">
                <a16:creationId xmlns:a16="http://schemas.microsoft.com/office/drawing/2014/main" id="{81C766EA-29D7-E572-7D3D-FFE907AC842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A8ED94F-C43A-6F9F-AF04-45436E0B2027}"/>
              </a:ext>
            </a:extLst>
          </p:cNvPr>
          <p:cNvSpPr>
            <a:spLocks noGrp="1"/>
          </p:cNvSpPr>
          <p:nvPr>
            <p:ph type="sldNum" sz="quarter" idx="12"/>
          </p:nvPr>
        </p:nvSpPr>
        <p:spPr/>
        <p:txBody>
          <a:bodyPr/>
          <a:lstStyle/>
          <a:p>
            <a:fld id="{7A8C3426-200D-4285-87F7-E7621589FA4F}" type="slidenum">
              <a:rPr lang="en-IN" smtClean="0"/>
              <a:t>‹#›</a:t>
            </a:fld>
            <a:endParaRPr lang="en-IN"/>
          </a:p>
        </p:txBody>
      </p:sp>
    </p:spTree>
    <p:extLst>
      <p:ext uri="{BB962C8B-B14F-4D97-AF65-F5344CB8AC3E}">
        <p14:creationId xmlns:p14="http://schemas.microsoft.com/office/powerpoint/2010/main" val="798167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46395-4391-0274-81D9-1296D3EF16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053A43-B46A-D355-AEC5-C795985A31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2802EA-F182-5B2B-0A02-5B6631D4B5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393D3-9B11-AE4A-BFC7-B9F16EB912EE}"/>
              </a:ext>
            </a:extLst>
          </p:cNvPr>
          <p:cNvSpPr>
            <a:spLocks noGrp="1"/>
          </p:cNvSpPr>
          <p:nvPr>
            <p:ph type="dt" sz="half" idx="10"/>
          </p:nvPr>
        </p:nvSpPr>
        <p:spPr/>
        <p:txBody>
          <a:bodyPr/>
          <a:lstStyle/>
          <a:p>
            <a:fld id="{CAEC82B0-FACC-4357-985F-67AAEECA9B40}" type="datetimeFigureOut">
              <a:rPr lang="en-IN" smtClean="0"/>
              <a:t>08-05-2024</a:t>
            </a:fld>
            <a:endParaRPr lang="en-IN"/>
          </a:p>
        </p:txBody>
      </p:sp>
      <p:sp>
        <p:nvSpPr>
          <p:cNvPr id="6" name="Footer Placeholder 5">
            <a:extLst>
              <a:ext uri="{FF2B5EF4-FFF2-40B4-BE49-F238E27FC236}">
                <a16:creationId xmlns:a16="http://schemas.microsoft.com/office/drawing/2014/main" id="{888EE9B7-8918-7EE5-E594-6BB10C24D3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67DEEC-C46D-3445-0ED5-D92C2F1D055A}"/>
              </a:ext>
            </a:extLst>
          </p:cNvPr>
          <p:cNvSpPr>
            <a:spLocks noGrp="1"/>
          </p:cNvSpPr>
          <p:nvPr>
            <p:ph type="sldNum" sz="quarter" idx="12"/>
          </p:nvPr>
        </p:nvSpPr>
        <p:spPr/>
        <p:txBody>
          <a:bodyPr/>
          <a:lstStyle/>
          <a:p>
            <a:fld id="{7A8C3426-200D-4285-87F7-E7621589FA4F}" type="slidenum">
              <a:rPr lang="en-IN" smtClean="0"/>
              <a:t>‹#›</a:t>
            </a:fld>
            <a:endParaRPr lang="en-IN"/>
          </a:p>
        </p:txBody>
      </p:sp>
    </p:spTree>
    <p:extLst>
      <p:ext uri="{BB962C8B-B14F-4D97-AF65-F5344CB8AC3E}">
        <p14:creationId xmlns:p14="http://schemas.microsoft.com/office/powerpoint/2010/main" val="807894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705F8-5073-BCC6-5DF1-76B8DDDB08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B044E9E-9744-8265-BB4A-312306F4C2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F569F3F-4140-523F-70B2-7FFC581772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A6E5F2-C932-58A8-889A-E286712672F7}"/>
              </a:ext>
            </a:extLst>
          </p:cNvPr>
          <p:cNvSpPr>
            <a:spLocks noGrp="1"/>
          </p:cNvSpPr>
          <p:nvPr>
            <p:ph type="dt" sz="half" idx="10"/>
          </p:nvPr>
        </p:nvSpPr>
        <p:spPr/>
        <p:txBody>
          <a:bodyPr/>
          <a:lstStyle/>
          <a:p>
            <a:fld id="{CAEC82B0-FACC-4357-985F-67AAEECA9B40}" type="datetimeFigureOut">
              <a:rPr lang="en-IN" smtClean="0"/>
              <a:t>08-05-2024</a:t>
            </a:fld>
            <a:endParaRPr lang="en-IN"/>
          </a:p>
        </p:txBody>
      </p:sp>
      <p:sp>
        <p:nvSpPr>
          <p:cNvPr id="6" name="Footer Placeholder 5">
            <a:extLst>
              <a:ext uri="{FF2B5EF4-FFF2-40B4-BE49-F238E27FC236}">
                <a16:creationId xmlns:a16="http://schemas.microsoft.com/office/drawing/2014/main" id="{DD6E6280-3365-03AB-1114-AE4B85F266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3E763D-8198-34A7-B13E-B041805A3431}"/>
              </a:ext>
            </a:extLst>
          </p:cNvPr>
          <p:cNvSpPr>
            <a:spLocks noGrp="1"/>
          </p:cNvSpPr>
          <p:nvPr>
            <p:ph type="sldNum" sz="quarter" idx="12"/>
          </p:nvPr>
        </p:nvSpPr>
        <p:spPr/>
        <p:txBody>
          <a:bodyPr/>
          <a:lstStyle/>
          <a:p>
            <a:fld id="{7A8C3426-200D-4285-87F7-E7621589FA4F}" type="slidenum">
              <a:rPr lang="en-IN" smtClean="0"/>
              <a:t>‹#›</a:t>
            </a:fld>
            <a:endParaRPr lang="en-IN"/>
          </a:p>
        </p:txBody>
      </p:sp>
    </p:spTree>
    <p:extLst>
      <p:ext uri="{BB962C8B-B14F-4D97-AF65-F5344CB8AC3E}">
        <p14:creationId xmlns:p14="http://schemas.microsoft.com/office/powerpoint/2010/main" val="629511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A1FB8-4667-EAF6-8575-91860B849D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CF6053-C509-B494-31DF-99137D079B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621198-9786-DD26-2BB2-B72B7CBE1599}"/>
              </a:ext>
            </a:extLst>
          </p:cNvPr>
          <p:cNvSpPr>
            <a:spLocks noGrp="1"/>
          </p:cNvSpPr>
          <p:nvPr>
            <p:ph type="dt" sz="half" idx="10"/>
          </p:nvPr>
        </p:nvSpPr>
        <p:spPr/>
        <p:txBody>
          <a:bodyPr/>
          <a:lstStyle/>
          <a:p>
            <a:fld id="{CAEC82B0-FACC-4357-985F-67AAEECA9B40}" type="datetimeFigureOut">
              <a:rPr lang="en-IN" smtClean="0"/>
              <a:t>08-05-2024</a:t>
            </a:fld>
            <a:endParaRPr lang="en-IN"/>
          </a:p>
        </p:txBody>
      </p:sp>
      <p:sp>
        <p:nvSpPr>
          <p:cNvPr id="5" name="Footer Placeholder 4">
            <a:extLst>
              <a:ext uri="{FF2B5EF4-FFF2-40B4-BE49-F238E27FC236}">
                <a16:creationId xmlns:a16="http://schemas.microsoft.com/office/drawing/2014/main" id="{6874083F-4B8D-0CDB-8945-5AB1336B91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AC93BF-19AF-B378-7396-D830F669DC5A}"/>
              </a:ext>
            </a:extLst>
          </p:cNvPr>
          <p:cNvSpPr>
            <a:spLocks noGrp="1"/>
          </p:cNvSpPr>
          <p:nvPr>
            <p:ph type="sldNum" sz="quarter" idx="12"/>
          </p:nvPr>
        </p:nvSpPr>
        <p:spPr/>
        <p:txBody>
          <a:bodyPr/>
          <a:lstStyle/>
          <a:p>
            <a:fld id="{7A8C3426-200D-4285-87F7-E7621589FA4F}" type="slidenum">
              <a:rPr lang="en-IN" smtClean="0"/>
              <a:t>‹#›</a:t>
            </a:fld>
            <a:endParaRPr lang="en-IN"/>
          </a:p>
        </p:txBody>
      </p:sp>
    </p:spTree>
    <p:extLst>
      <p:ext uri="{BB962C8B-B14F-4D97-AF65-F5344CB8AC3E}">
        <p14:creationId xmlns:p14="http://schemas.microsoft.com/office/powerpoint/2010/main" val="4140744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3F8E4E-25F9-CA33-905B-E03B897B4F6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BEFBC4-5270-8A9B-2BB5-97E2D34FA3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0B0413-99A3-C84F-D15B-CEEBEE9704B7}"/>
              </a:ext>
            </a:extLst>
          </p:cNvPr>
          <p:cNvSpPr>
            <a:spLocks noGrp="1"/>
          </p:cNvSpPr>
          <p:nvPr>
            <p:ph type="dt" sz="half" idx="10"/>
          </p:nvPr>
        </p:nvSpPr>
        <p:spPr/>
        <p:txBody>
          <a:bodyPr/>
          <a:lstStyle/>
          <a:p>
            <a:fld id="{CAEC82B0-FACC-4357-985F-67AAEECA9B40}" type="datetimeFigureOut">
              <a:rPr lang="en-IN" smtClean="0"/>
              <a:t>08-05-2024</a:t>
            </a:fld>
            <a:endParaRPr lang="en-IN"/>
          </a:p>
        </p:txBody>
      </p:sp>
      <p:sp>
        <p:nvSpPr>
          <p:cNvPr id="5" name="Footer Placeholder 4">
            <a:extLst>
              <a:ext uri="{FF2B5EF4-FFF2-40B4-BE49-F238E27FC236}">
                <a16:creationId xmlns:a16="http://schemas.microsoft.com/office/drawing/2014/main" id="{748B295C-33B9-E045-100B-0C8E6FEC8A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214DC1-1563-2F72-9D4B-C55F0AD192A2}"/>
              </a:ext>
            </a:extLst>
          </p:cNvPr>
          <p:cNvSpPr>
            <a:spLocks noGrp="1"/>
          </p:cNvSpPr>
          <p:nvPr>
            <p:ph type="sldNum" sz="quarter" idx="12"/>
          </p:nvPr>
        </p:nvSpPr>
        <p:spPr/>
        <p:txBody>
          <a:bodyPr/>
          <a:lstStyle/>
          <a:p>
            <a:fld id="{7A8C3426-200D-4285-87F7-E7621589FA4F}" type="slidenum">
              <a:rPr lang="en-IN" smtClean="0"/>
              <a:t>‹#›</a:t>
            </a:fld>
            <a:endParaRPr lang="en-IN"/>
          </a:p>
        </p:txBody>
      </p:sp>
    </p:spTree>
    <p:extLst>
      <p:ext uri="{BB962C8B-B14F-4D97-AF65-F5344CB8AC3E}">
        <p14:creationId xmlns:p14="http://schemas.microsoft.com/office/powerpoint/2010/main" val="3297606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EEFDDA-F1C9-8598-DFAD-A673174F78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8F15DE-0AFB-F264-93FD-114404EE59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E5EDAD-C2DB-93DC-93A0-74ADF2F9C8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EC82B0-FACC-4357-985F-67AAEECA9B40}" type="datetimeFigureOut">
              <a:rPr lang="en-IN" smtClean="0"/>
              <a:t>08-05-2024</a:t>
            </a:fld>
            <a:endParaRPr lang="en-IN"/>
          </a:p>
        </p:txBody>
      </p:sp>
      <p:sp>
        <p:nvSpPr>
          <p:cNvPr id="5" name="Footer Placeholder 4">
            <a:extLst>
              <a:ext uri="{FF2B5EF4-FFF2-40B4-BE49-F238E27FC236}">
                <a16:creationId xmlns:a16="http://schemas.microsoft.com/office/drawing/2014/main" id="{8EC900D5-3856-BD56-F127-528426A015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0EA724C-EE57-30B9-C2AE-2F6104FABE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8C3426-200D-4285-87F7-E7621589FA4F}" type="slidenum">
              <a:rPr lang="en-IN" smtClean="0"/>
              <a:t>‹#›</a:t>
            </a:fld>
            <a:endParaRPr lang="en-IN"/>
          </a:p>
        </p:txBody>
      </p:sp>
    </p:spTree>
    <p:extLst>
      <p:ext uri="{BB962C8B-B14F-4D97-AF65-F5344CB8AC3E}">
        <p14:creationId xmlns:p14="http://schemas.microsoft.com/office/powerpoint/2010/main" val="2311024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2"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7.png"/><Relationship Id="rId17" Type="http://schemas.openxmlformats.org/officeDocument/2006/relationships/image" Target="../media/image12.svg"/><Relationship Id="rId2" Type="http://schemas.openxmlformats.org/officeDocument/2006/relationships/image" Target="../media/image2.jpg"/><Relationship Id="rId16"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image" Target="../media/image6.svg"/><Relationship Id="rId5" Type="http://schemas.openxmlformats.org/officeDocument/2006/relationships/diagramQuickStyle" Target="../diagrams/quickStyle1.xml"/><Relationship Id="rId15" Type="http://schemas.openxmlformats.org/officeDocument/2006/relationships/image" Target="../media/image10.svg"/><Relationship Id="rId10" Type="http://schemas.openxmlformats.org/officeDocument/2006/relationships/image" Target="../media/image5.png"/><Relationship Id="rId4" Type="http://schemas.openxmlformats.org/officeDocument/2006/relationships/diagramLayout" Target="../diagrams/layout1.xml"/><Relationship Id="rId9" Type="http://schemas.openxmlformats.org/officeDocument/2006/relationships/image" Target="../media/image4.svg"/><Relationship Id="rId1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diagramLayout" Target="../diagrams/layout2.xml"/><Relationship Id="rId7" Type="http://schemas.openxmlformats.org/officeDocument/2006/relationships/image" Target="../media/image29.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jpe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6C9863-3138-D5FB-B1CA-B98CC53E4FE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31485" y="117615"/>
            <a:ext cx="4927543" cy="1551651"/>
          </a:xfrm>
          <a:prstGeom prst="rect">
            <a:avLst/>
          </a:prstGeom>
          <a:noFill/>
          <a:ln>
            <a:noFill/>
          </a:ln>
        </p:spPr>
      </p:pic>
      <p:sp>
        <p:nvSpPr>
          <p:cNvPr id="13" name="TextBox 12">
            <a:extLst>
              <a:ext uri="{FF2B5EF4-FFF2-40B4-BE49-F238E27FC236}">
                <a16:creationId xmlns:a16="http://schemas.microsoft.com/office/drawing/2014/main" id="{10B887D3-13E8-0224-29F6-9E5EB9F095BA}"/>
              </a:ext>
            </a:extLst>
          </p:cNvPr>
          <p:cNvSpPr txBox="1"/>
          <p:nvPr/>
        </p:nvSpPr>
        <p:spPr>
          <a:xfrm>
            <a:off x="554476" y="1669266"/>
            <a:ext cx="11488366" cy="900118"/>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5249" b="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90459F72-466D-41AF-B397-51FEB80EE0C3}"/>
              </a:ext>
            </a:extLst>
          </p:cNvPr>
          <p:cNvSpPr txBox="1"/>
          <p:nvPr/>
        </p:nvSpPr>
        <p:spPr>
          <a:xfrm>
            <a:off x="1014884" y="1978429"/>
            <a:ext cx="9824912" cy="2554545"/>
          </a:xfrm>
          <a:prstGeom prst="rect">
            <a:avLst/>
          </a:prstGeom>
          <a:noFill/>
        </p:spPr>
        <p:txBody>
          <a:bodyPr wrap="square">
            <a:spAutoFit/>
          </a:bodyPr>
          <a:lstStyle/>
          <a:p>
            <a:pPr algn="ctr" rtl="0">
              <a:spcBef>
                <a:spcPts val="0"/>
              </a:spcBef>
              <a:spcAft>
                <a:spcPts val="0"/>
              </a:spcAft>
            </a:pPr>
            <a:r>
              <a:rPr lang="en-US" sz="4000" b="1" dirty="0">
                <a:solidFill>
                  <a:srgbClr val="FF0000"/>
                </a:solidFill>
                <a:latin typeface="Times New Roman" panose="02020603050405020304" pitchFamily="18" charset="0"/>
                <a:cs typeface="Times New Roman" panose="02020603050405020304" pitchFamily="18" charset="0"/>
              </a:rPr>
              <a:t>GENE TARGET IDENTIFICATION FOR EPIGENETIC DISORDERS USING MICROARRAY DATA</a:t>
            </a:r>
          </a:p>
          <a:p>
            <a:pPr algn="ctr" rtl="0">
              <a:spcBef>
                <a:spcPts val="0"/>
              </a:spcBef>
              <a:spcAft>
                <a:spcPts val="0"/>
              </a:spcAft>
            </a:pPr>
            <a:endParaRPr lang="en-US" sz="4000" dirty="0">
              <a:solidFill>
                <a:srgbClr val="FF0000"/>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DE0DA10F-FB6A-B758-13E4-8A91373EEA39}"/>
              </a:ext>
            </a:extLst>
          </p:cNvPr>
          <p:cNvSpPr txBox="1"/>
          <p:nvPr/>
        </p:nvSpPr>
        <p:spPr>
          <a:xfrm>
            <a:off x="1219893" y="4222865"/>
            <a:ext cx="3368732" cy="1219463"/>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Guide: </a:t>
            </a:r>
          </a:p>
          <a:p>
            <a:r>
              <a:rPr lang="en-US" sz="1800" dirty="0">
                <a:latin typeface="Times New Roman" panose="02020603050405020304" pitchFamily="18" charset="0"/>
                <a:cs typeface="Times New Roman" panose="02020603050405020304" pitchFamily="18" charset="0"/>
              </a:rPr>
              <a:t>Dr. M. </a:t>
            </a:r>
            <a:r>
              <a:rPr lang="en-US" sz="1800" dirty="0" err="1">
                <a:latin typeface="Times New Roman" panose="02020603050405020304" pitchFamily="18" charset="0"/>
                <a:cs typeface="Times New Roman" panose="02020603050405020304" pitchFamily="18" charset="0"/>
              </a:rPr>
              <a:t>Viswajit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Assistant professor</a:t>
            </a:r>
          </a:p>
          <a:p>
            <a:r>
              <a:rPr lang="en-US" sz="1800" dirty="0">
                <a:latin typeface="Times New Roman" panose="02020603050405020304" pitchFamily="18" charset="0"/>
                <a:cs typeface="Times New Roman" panose="02020603050405020304" pitchFamily="18" charset="0"/>
              </a:rPr>
              <a:t>Department of Biotechnology</a:t>
            </a:r>
            <a:endParaRPr lang="en-IN"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9FEF1FAA-C4A4-1988-D91E-0C551E17B0C5}"/>
              </a:ext>
            </a:extLst>
          </p:cNvPr>
          <p:cNvSpPr txBox="1"/>
          <p:nvPr/>
        </p:nvSpPr>
        <p:spPr>
          <a:xfrm>
            <a:off x="6226232" y="4241999"/>
            <a:ext cx="3975561" cy="1200329"/>
          </a:xfrm>
          <a:prstGeom prst="rect">
            <a:avLst/>
          </a:prstGeom>
          <a:noFill/>
        </p:spPr>
        <p:txBody>
          <a:bodyPr wrap="square">
            <a:spAutoFit/>
          </a:bodyPr>
          <a:lstStyle/>
          <a:p>
            <a:r>
              <a:rPr lang="en-US" sz="1800" b="1">
                <a:latin typeface="Times New Roman" panose="02020603050405020304" pitchFamily="18" charset="0"/>
                <a:cs typeface="Times New Roman" panose="02020603050405020304" pitchFamily="18" charset="0"/>
              </a:rPr>
              <a:t>Presented by:</a:t>
            </a:r>
          </a:p>
          <a:p>
            <a:r>
              <a:rPr lang="en-US" sz="1800">
                <a:latin typeface="Times New Roman" panose="02020603050405020304" pitchFamily="18" charset="0"/>
                <a:cs typeface="Times New Roman" panose="02020603050405020304" pitchFamily="18" charset="0"/>
              </a:rPr>
              <a:t>N. Likhitha - 211FA14047</a:t>
            </a:r>
          </a:p>
          <a:p>
            <a:r>
              <a:rPr lang="en-US" sz="1800">
                <a:latin typeface="Times New Roman" panose="02020603050405020304" pitchFamily="18" charset="0"/>
                <a:cs typeface="Times New Roman" panose="02020603050405020304" pitchFamily="18" charset="0"/>
              </a:rPr>
              <a:t>N. Likhitha Priya -211FA14050</a:t>
            </a:r>
          </a:p>
          <a:p>
            <a:r>
              <a:rPr lang="en-US" sz="1800">
                <a:latin typeface="Times New Roman" panose="02020603050405020304" pitchFamily="18" charset="0"/>
                <a:cs typeface="Times New Roman" panose="02020603050405020304" pitchFamily="18" charset="0"/>
              </a:rPr>
              <a:t>M. Naga Anjana Gopinath -211FA14052</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7894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lum/>
          </a:blip>
          <a:srcRect/>
          <a:stretch>
            <a:fillRect t="-7000" b="-7000"/>
          </a:stretch>
        </a:blip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F5FF234-0826-F7D6-7F96-DA80E5BCFD6D}"/>
              </a:ext>
            </a:extLst>
          </p:cNvPr>
          <p:cNvSpPr txBox="1"/>
          <p:nvPr/>
        </p:nvSpPr>
        <p:spPr>
          <a:xfrm>
            <a:off x="1088967" y="290945"/>
            <a:ext cx="10326653" cy="935649"/>
          </a:xfrm>
          <a:prstGeom prst="rect">
            <a:avLst/>
          </a:prstGeom>
        </p:spPr>
        <p:txBody>
          <a:bodyPr vert="horz" lIns="91440" tIns="45720" rIns="91440" bIns="45720" rtlCol="0" anchor="ctr">
            <a:normAutofit fontScale="32500" lnSpcReduction="20000"/>
          </a:bodyPr>
          <a:lstStyle/>
          <a:p>
            <a:pPr>
              <a:lnSpc>
                <a:spcPct val="90000"/>
              </a:lnSpc>
              <a:spcBef>
                <a:spcPct val="0"/>
              </a:spcBef>
              <a:spcAft>
                <a:spcPts val="600"/>
              </a:spcAft>
            </a:pPr>
            <a:endParaRPr lang="en-US" sz="4000" b="1" kern="1200" dirty="0">
              <a:solidFill>
                <a:srgbClr val="FFFFFF"/>
              </a:solidFill>
              <a:latin typeface="+mj-lt"/>
              <a:ea typeface="+mj-ea"/>
              <a:cs typeface="+mj-cs"/>
            </a:endParaRPr>
          </a:p>
          <a:p>
            <a:pPr>
              <a:lnSpc>
                <a:spcPct val="90000"/>
              </a:lnSpc>
              <a:spcBef>
                <a:spcPct val="0"/>
              </a:spcBef>
              <a:spcAft>
                <a:spcPts val="600"/>
              </a:spcAft>
            </a:pPr>
            <a:r>
              <a:rPr lang="en-US" sz="13500" b="1" kern="1200" dirty="0">
                <a:solidFill>
                  <a:srgbClr val="FFFFFF"/>
                </a:solidFill>
                <a:latin typeface="Times New Roman" panose="02020603050405020304" pitchFamily="18" charset="0"/>
                <a:ea typeface="+mj-ea"/>
                <a:cs typeface="Times New Roman" panose="02020603050405020304" pitchFamily="18" charset="0"/>
              </a:rPr>
              <a:t>Objectives:</a:t>
            </a:r>
          </a:p>
          <a:p>
            <a:pPr>
              <a:lnSpc>
                <a:spcPct val="90000"/>
              </a:lnSpc>
              <a:spcBef>
                <a:spcPct val="0"/>
              </a:spcBef>
              <a:spcAft>
                <a:spcPts val="600"/>
              </a:spcAft>
            </a:pPr>
            <a:endParaRPr lang="en-US" sz="4000" b="1" kern="1200" dirty="0">
              <a:solidFill>
                <a:srgbClr val="FFFFFF"/>
              </a:solidFill>
              <a:latin typeface="+mj-lt"/>
              <a:ea typeface="+mj-ea"/>
              <a:cs typeface="+mj-cs"/>
            </a:endParaRPr>
          </a:p>
        </p:txBody>
      </p:sp>
      <p:graphicFrame>
        <p:nvGraphicFramePr>
          <p:cNvPr id="36" name="Diagram 35">
            <a:extLst>
              <a:ext uri="{FF2B5EF4-FFF2-40B4-BE49-F238E27FC236}">
                <a16:creationId xmlns:a16="http://schemas.microsoft.com/office/drawing/2014/main" id="{1A1E378D-D237-FF29-98AA-6E53F6ACDA51}"/>
              </a:ext>
            </a:extLst>
          </p:cNvPr>
          <p:cNvGraphicFramePr/>
          <p:nvPr>
            <p:extLst>
              <p:ext uri="{D42A27DB-BD31-4B8C-83A1-F6EECF244321}">
                <p14:modId xmlns:p14="http://schemas.microsoft.com/office/powerpoint/2010/main" val="2803375105"/>
              </p:ext>
            </p:extLst>
          </p:nvPr>
        </p:nvGraphicFramePr>
        <p:xfrm>
          <a:off x="2016804" y="1939438"/>
          <a:ext cx="8727620" cy="43542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Graphic 9" descr="Heart with pulse with solid fill">
            <a:extLst>
              <a:ext uri="{FF2B5EF4-FFF2-40B4-BE49-F238E27FC236}">
                <a16:creationId xmlns:a16="http://schemas.microsoft.com/office/drawing/2014/main" id="{94D6BC7D-DCCD-E9DB-9C6A-6B2583F30D85}"/>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671185" y="3811202"/>
            <a:ext cx="652022" cy="652022"/>
          </a:xfrm>
          <a:prstGeom prst="rect">
            <a:avLst/>
          </a:prstGeom>
        </p:spPr>
      </p:pic>
      <p:pic>
        <p:nvPicPr>
          <p:cNvPr id="14" name="Graphic 13" descr="DNA with solid fill">
            <a:extLst>
              <a:ext uri="{FF2B5EF4-FFF2-40B4-BE49-F238E27FC236}">
                <a16:creationId xmlns:a16="http://schemas.microsoft.com/office/drawing/2014/main" id="{B15377A9-15F9-4023-44BA-EBE6FE3EEDC6}"/>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467121">
            <a:off x="2542662" y="3006662"/>
            <a:ext cx="578933" cy="578933"/>
          </a:xfrm>
          <a:prstGeom prst="rect">
            <a:avLst/>
          </a:prstGeom>
        </p:spPr>
      </p:pic>
      <p:pic>
        <p:nvPicPr>
          <p:cNvPr id="20" name="Graphic 19" descr="Eye dropper with solid fill">
            <a:extLst>
              <a:ext uri="{FF2B5EF4-FFF2-40B4-BE49-F238E27FC236}">
                <a16:creationId xmlns:a16="http://schemas.microsoft.com/office/drawing/2014/main" id="{A6D2274C-CD6E-F192-3951-51CDD8B65807}"/>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159154" y="2234802"/>
            <a:ext cx="512031" cy="545720"/>
          </a:xfrm>
          <a:prstGeom prst="rect">
            <a:avLst/>
          </a:prstGeom>
        </p:spPr>
      </p:pic>
      <p:pic>
        <p:nvPicPr>
          <p:cNvPr id="3" name="Graphic 2" descr="GMO with solid fill">
            <a:extLst>
              <a:ext uri="{FF2B5EF4-FFF2-40B4-BE49-F238E27FC236}">
                <a16:creationId xmlns:a16="http://schemas.microsoft.com/office/drawing/2014/main" id="{8FB01EEB-2F91-763F-D0D0-1F94192B7EF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577830" y="4647864"/>
            <a:ext cx="482998" cy="482998"/>
          </a:xfrm>
          <a:prstGeom prst="rect">
            <a:avLst/>
          </a:prstGeom>
        </p:spPr>
      </p:pic>
      <p:pic>
        <p:nvPicPr>
          <p:cNvPr id="6" name="Graphic 5" descr="Medicine with solid fill">
            <a:extLst>
              <a:ext uri="{FF2B5EF4-FFF2-40B4-BE49-F238E27FC236}">
                <a16:creationId xmlns:a16="http://schemas.microsoft.com/office/drawing/2014/main" id="{57098A32-FFC2-2670-023A-07D61FEE82D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148364" y="5488949"/>
            <a:ext cx="652022" cy="652022"/>
          </a:xfrm>
          <a:prstGeom prst="rect">
            <a:avLst/>
          </a:prstGeom>
        </p:spPr>
      </p:pic>
    </p:spTree>
    <p:extLst>
      <p:ext uri="{BB962C8B-B14F-4D97-AF65-F5344CB8AC3E}">
        <p14:creationId xmlns:p14="http://schemas.microsoft.com/office/powerpoint/2010/main" val="2396995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5" name="Rectangle 1044">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15F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a:extLst>
              <a:ext uri="{FF2B5EF4-FFF2-40B4-BE49-F238E27FC236}">
                <a16:creationId xmlns:a16="http://schemas.microsoft.com/office/drawing/2014/main" id="{1AA3931E-C3C7-A093-F201-6395CF869A8E}"/>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b="9765"/>
          <a:stretch/>
        </p:blipFill>
        <p:spPr bwMode="auto">
          <a:xfrm>
            <a:off x="2140016" y="99754"/>
            <a:ext cx="9925525" cy="663271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FA61C41-C52F-CC79-BE9A-36E72A18210B}"/>
              </a:ext>
            </a:extLst>
          </p:cNvPr>
          <p:cNvSpPr txBox="1"/>
          <p:nvPr/>
        </p:nvSpPr>
        <p:spPr>
          <a:xfrm>
            <a:off x="126459" y="2074362"/>
            <a:ext cx="2575311"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lnSpc>
                <a:spcPct val="90000"/>
              </a:lnSpc>
              <a:spcBef>
                <a:spcPct val="0"/>
              </a:spcBef>
              <a:spcAft>
                <a:spcPts val="600"/>
              </a:spcAft>
            </a:pPr>
            <a:r>
              <a:rPr lang="en-US" sz="2600" b="1" kern="1200">
                <a:solidFill>
                  <a:srgbClr val="FFFFFF"/>
                </a:solidFill>
                <a:latin typeface="Times New Roman" panose="02020603050405020304" pitchFamily="18" charset="0"/>
                <a:ea typeface="+mj-ea"/>
                <a:cs typeface="Times New Roman" panose="02020603050405020304" pitchFamily="18" charset="0"/>
              </a:rPr>
              <a:t>Facts About Rett syndrome:</a:t>
            </a:r>
            <a:endParaRPr lang="en-US" sz="2600" b="1" kern="1200" dirty="0">
              <a:solidFill>
                <a:srgbClr val="FFFFFF"/>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882369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erson using microscope">
            <a:extLst>
              <a:ext uri="{FF2B5EF4-FFF2-40B4-BE49-F238E27FC236}">
                <a16:creationId xmlns:a16="http://schemas.microsoft.com/office/drawing/2014/main" id="{5F678B43-9E81-E55A-5A8F-7389077D9A89}"/>
              </a:ext>
            </a:extLst>
          </p:cNvPr>
          <p:cNvPicPr>
            <a:picLocks noChangeAspect="1"/>
          </p:cNvPicPr>
          <p:nvPr/>
        </p:nvPicPr>
        <p:blipFill rotWithShape="1">
          <a:blip r:embed="rId2"/>
          <a:srcRect l="6767" r="24144" b="1"/>
          <a:stretch/>
        </p:blipFill>
        <p:spPr>
          <a:xfrm>
            <a:off x="3769566" y="0"/>
            <a:ext cx="8596867" cy="6857990"/>
          </a:xfrm>
          <a:prstGeom prst="rect">
            <a:avLst/>
          </a:prstGeom>
        </p:spPr>
      </p:pic>
      <p:sp>
        <p:nvSpPr>
          <p:cNvPr id="42" name="Rectangle 4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81D99704-1979-3D8B-7D24-34AF9B697056}"/>
              </a:ext>
            </a:extLst>
          </p:cNvPr>
          <p:cNvSpPr txBox="1"/>
          <p:nvPr/>
        </p:nvSpPr>
        <p:spPr>
          <a:xfrm>
            <a:off x="121299" y="2034073"/>
            <a:ext cx="4851918" cy="4114800"/>
          </a:xfrm>
          <a:prstGeom prst="rect">
            <a:avLst/>
          </a:prstGeom>
        </p:spPr>
        <p:txBody>
          <a:bodyPr vert="horz" lIns="91440" tIns="45720" rIns="91440" bIns="45720" rtlCol="0">
            <a:normAutofit lnSpcReduction="10000"/>
          </a:bodyPr>
          <a:lstStyle/>
          <a:p>
            <a:pPr>
              <a:lnSpc>
                <a:spcPct val="90000"/>
              </a:lnSpc>
              <a:spcAft>
                <a:spcPts val="600"/>
              </a:spcAft>
            </a:pPr>
            <a:r>
              <a:rPr lang="en-US" sz="1600" dirty="0">
                <a:effectLst/>
                <a:latin typeface="Times New Roman" panose="02020603050405020304" pitchFamily="18" charset="0"/>
                <a:cs typeface="Times New Roman" panose="02020603050405020304" pitchFamily="18" charset="0"/>
              </a:rPr>
              <a:t>        </a:t>
            </a:r>
          </a:p>
          <a:p>
            <a:pPr algn="just">
              <a:lnSpc>
                <a:spcPct val="90000"/>
              </a:lnSpc>
              <a:spcAft>
                <a:spcPts val="600"/>
              </a:spcAft>
            </a:pPr>
            <a:r>
              <a:rPr lang="en-US" sz="1600" dirty="0">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Rett syndrome is a rare neurodevelopmental disorder primarily affecting females, characterized by speech and motor function loss, seizures, and intellectual disability. Epigenetic dysregulation, particularly DNA methylation, plays a key role in its pathogenesis. Identifying gene targets is essential for developing targeted therapies. Microarray data analysis helps pinpoint dysregulated genes and pathways.</a:t>
            </a:r>
          </a:p>
          <a:p>
            <a:pPr algn="just">
              <a:lnSpc>
                <a:spcPct val="90000"/>
              </a:lnSpc>
              <a:spcAft>
                <a:spcPts val="600"/>
              </a:spcAft>
            </a:pPr>
            <a:endParaRPr lang="en-US" sz="1600" dirty="0">
              <a:effectLst/>
              <a:latin typeface="Times New Roman" panose="02020603050405020304" pitchFamily="18" charset="0"/>
              <a:cs typeface="Times New Roman" panose="02020603050405020304" pitchFamily="18" charset="0"/>
            </a:endParaRPr>
          </a:p>
          <a:p>
            <a:pPr algn="just">
              <a:lnSpc>
                <a:spcPct val="90000"/>
              </a:lnSpc>
              <a:spcAft>
                <a:spcPts val="600"/>
              </a:spcAft>
            </a:pPr>
            <a:r>
              <a:rPr lang="en-US" sz="1600" dirty="0">
                <a:latin typeface="Times New Roman" panose="02020603050405020304" pitchFamily="18" charset="0"/>
                <a:cs typeface="Times New Roman" panose="02020603050405020304" pitchFamily="18" charset="0"/>
              </a:rPr>
              <a:t>	</a:t>
            </a:r>
            <a:r>
              <a:rPr lang="en-US" sz="1600" dirty="0">
                <a:effectLst/>
                <a:latin typeface="Times New Roman" panose="02020603050405020304" pitchFamily="18" charset="0"/>
                <a:cs typeface="Times New Roman" panose="02020603050405020304" pitchFamily="18" charset="0"/>
              </a:rPr>
              <a:t> Computational techniques like homology modeling and docking studies aid in drug discovery by predicting protein interactions. Network analysis using tools like STRING and </a:t>
            </a:r>
            <a:r>
              <a:rPr lang="en-US" sz="1600" dirty="0" err="1">
                <a:effectLst/>
                <a:latin typeface="Times New Roman" panose="02020603050405020304" pitchFamily="18" charset="0"/>
                <a:cs typeface="Times New Roman" panose="02020603050405020304" pitchFamily="18" charset="0"/>
              </a:rPr>
              <a:t>Cytoscape</a:t>
            </a:r>
            <a:r>
              <a:rPr lang="en-US" sz="1600" dirty="0">
                <a:effectLst/>
                <a:latin typeface="Times New Roman" panose="02020603050405020304" pitchFamily="18" charset="0"/>
                <a:cs typeface="Times New Roman" panose="02020603050405020304" pitchFamily="18" charset="0"/>
              </a:rPr>
              <a:t> reveals biological pathways, guiding therapeutic interventions. QSAR analysis predicts drug activity and optimizes compounds. This study integrates these methods to identify gene targets and therapeutic candidates, aiming to accelerate treatment discovery for Rett syndrome.</a:t>
            </a:r>
          </a:p>
          <a:p>
            <a:pPr indent="-228600">
              <a:lnSpc>
                <a:spcPct val="90000"/>
              </a:lnSpc>
              <a:spcAft>
                <a:spcPts val="600"/>
              </a:spcAft>
              <a:buFont typeface="Arial" panose="020B0604020202020204" pitchFamily="34" charset="0"/>
              <a:buChar char="•"/>
            </a:pPr>
            <a:endParaRPr lang="en-US" sz="11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822126C-9EE8-0F23-9E96-16C8CCDDA13C}"/>
              </a:ext>
            </a:extLst>
          </p:cNvPr>
          <p:cNvSpPr txBox="1"/>
          <p:nvPr/>
        </p:nvSpPr>
        <p:spPr>
          <a:xfrm>
            <a:off x="373224" y="1074822"/>
            <a:ext cx="6176798" cy="757130"/>
          </a:xfrm>
          <a:prstGeom prst="rect">
            <a:avLst/>
          </a:prstGeom>
          <a:noFill/>
        </p:spPr>
        <p:txBody>
          <a:bodyPr wrap="square">
            <a:spAutoFit/>
          </a:bodyPr>
          <a:lstStyle/>
          <a:p>
            <a:pPr>
              <a:lnSpc>
                <a:spcPct val="90000"/>
              </a:lnSpc>
              <a:spcAft>
                <a:spcPts val="600"/>
              </a:spcAft>
            </a:pPr>
            <a:r>
              <a:rPr lang="en-US" sz="4800" b="1" dirty="0">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1890595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20755EE-A38C-E812-97D3-CC66D3F0C200}"/>
              </a:ext>
            </a:extLst>
          </p:cNvPr>
          <p:cNvSpPr txBox="1"/>
          <p:nvPr/>
        </p:nvSpPr>
        <p:spPr>
          <a:xfrm>
            <a:off x="699713" y="248038"/>
            <a:ext cx="7063721" cy="11592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kern="1200" dirty="0">
                <a:solidFill>
                  <a:srgbClr val="FFFFFF"/>
                </a:solidFill>
                <a:latin typeface="Times New Roman" panose="02020603050405020304" pitchFamily="18" charset="0"/>
                <a:ea typeface="+mj-ea"/>
                <a:cs typeface="Times New Roman" panose="02020603050405020304" pitchFamily="18" charset="0"/>
              </a:rPr>
              <a:t>METHODOLOGY</a:t>
            </a:r>
          </a:p>
        </p:txBody>
      </p:sp>
      <p:pic>
        <p:nvPicPr>
          <p:cNvPr id="4" name="Picture 3" descr="A black and white text on a black and white background&#10;&#10;Description automatically generated">
            <a:extLst>
              <a:ext uri="{FF2B5EF4-FFF2-40B4-BE49-F238E27FC236}">
                <a16:creationId xmlns:a16="http://schemas.microsoft.com/office/drawing/2014/main" id="{971EC19E-AC10-2E25-05F3-532C35D8F89D}"/>
              </a:ext>
            </a:extLst>
          </p:cNvPr>
          <p:cNvPicPr>
            <a:picLocks noChangeAspect="1"/>
          </p:cNvPicPr>
          <p:nvPr/>
        </p:nvPicPr>
        <p:blipFill>
          <a:blip r:embed="rId2"/>
          <a:stretch>
            <a:fillRect/>
          </a:stretch>
        </p:blipFill>
        <p:spPr>
          <a:xfrm>
            <a:off x="2880790" y="1822348"/>
            <a:ext cx="6512447" cy="4681089"/>
          </a:xfrm>
          <a:prstGeom prst="rect">
            <a:avLst/>
          </a:prstGeom>
        </p:spPr>
      </p:pic>
    </p:spTree>
    <p:extLst>
      <p:ext uri="{BB962C8B-B14F-4D97-AF65-F5344CB8AC3E}">
        <p14:creationId xmlns:p14="http://schemas.microsoft.com/office/powerpoint/2010/main" val="3285076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Gene Expression Core Facility ‐ EPFL">
            <a:extLst>
              <a:ext uri="{FF2B5EF4-FFF2-40B4-BE49-F238E27FC236}">
                <a16:creationId xmlns:a16="http://schemas.microsoft.com/office/drawing/2014/main" id="{950E8AB2-8925-0328-C434-DB372BA736C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56" r="-1" b="-1"/>
          <a:stretch/>
        </p:blipFill>
        <p:spPr bwMode="auto">
          <a:xfrm>
            <a:off x="0" y="10"/>
            <a:ext cx="9609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3081" name="Rectangle 308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76E213CB-1534-D223-BC0E-69CE8C5CE58F}"/>
              </a:ext>
            </a:extLst>
          </p:cNvPr>
          <p:cNvSpPr txBox="1"/>
          <p:nvPr/>
        </p:nvSpPr>
        <p:spPr>
          <a:xfrm>
            <a:off x="7772400" y="540327"/>
            <a:ext cx="4272742" cy="5420505"/>
          </a:xfrm>
          <a:prstGeom prst="rect">
            <a:avLst/>
          </a:prstGeom>
        </p:spPr>
        <p:txBody>
          <a:bodyPr vert="horz" lIns="91440" tIns="45720" rIns="91440" bIns="45720" rtlCol="0">
            <a:normAutofit lnSpcReduction="10000"/>
          </a:bodyPr>
          <a:lstStyle/>
          <a:p>
            <a:pPr>
              <a:lnSpc>
                <a:spcPct val="90000"/>
              </a:lnSpc>
              <a:spcAft>
                <a:spcPts val="600"/>
              </a:spcAft>
            </a:pPr>
            <a:r>
              <a:rPr lang="en-US" sz="3000" b="1" dirty="0">
                <a:latin typeface="Times New Roman" panose="02020603050405020304" pitchFamily="18" charset="0"/>
                <a:cs typeface="Times New Roman" panose="02020603050405020304" pitchFamily="18" charset="0"/>
              </a:rPr>
              <a:t>Literature search:</a:t>
            </a:r>
          </a:p>
          <a:p>
            <a:pPr indent="-228600">
              <a:lnSpc>
                <a:spcPct val="90000"/>
              </a:lnSpc>
              <a:spcAft>
                <a:spcPts val="600"/>
              </a:spcAft>
              <a:buFont typeface="Arial" panose="020B0604020202020204" pitchFamily="34" charset="0"/>
              <a:buChar char="•"/>
            </a:pPr>
            <a:endParaRPr lang="en-US" sz="1700" b="1" dirty="0">
              <a:latin typeface="Times New Roman" panose="02020603050405020304" pitchFamily="18" charset="0"/>
              <a:cs typeface="Times New Roman" panose="02020603050405020304" pitchFamily="18" charset="0"/>
            </a:endParaRPr>
          </a:p>
          <a:p>
            <a:pPr marL="285750" indent="-228600" algn="just">
              <a:lnSpc>
                <a:spcPct val="90000"/>
              </a:lnSpc>
              <a:spcAft>
                <a:spcPts val="600"/>
              </a:spcAft>
              <a:buFont typeface="Arial" panose="020B0604020202020204" pitchFamily="34" charset="0"/>
              <a:buChar char="•"/>
            </a:pPr>
            <a:r>
              <a:rPr lang="en-US" sz="1700" b="1" spc="-35" dirty="0">
                <a:latin typeface="Times New Roman" panose="02020603050405020304" pitchFamily="18" charset="0"/>
                <a:cs typeface="Times New Roman" panose="02020603050405020304" pitchFamily="18" charset="0"/>
              </a:rPr>
              <a:t>Epigenetic disorders </a:t>
            </a:r>
            <a:r>
              <a:rPr lang="en-US" sz="1700" spc="-35" dirty="0">
                <a:latin typeface="Times New Roman" panose="02020603050405020304" pitchFamily="18" charset="0"/>
                <a:cs typeface="Times New Roman" panose="02020603050405020304" pitchFamily="18" charset="0"/>
              </a:rPr>
              <a:t>are diseases caused by changes in gene expression without alteration to the DNA sequence. They can be inherited or acquired.</a:t>
            </a:r>
          </a:p>
          <a:p>
            <a:pPr marL="285750" indent="-228600" algn="just">
              <a:lnSpc>
                <a:spcPct val="90000"/>
              </a:lnSpc>
              <a:spcAft>
                <a:spcPts val="600"/>
              </a:spcAft>
              <a:buFont typeface="Arial" panose="020B0604020202020204" pitchFamily="34" charset="0"/>
              <a:buChar char="•"/>
            </a:pPr>
            <a:endParaRPr lang="en-US" sz="1700" b="1" i="0" u="none" strike="noStrike" dirty="0">
              <a:effectLst/>
              <a:latin typeface="Times New Roman" panose="02020603050405020304" pitchFamily="18" charset="0"/>
              <a:cs typeface="Times New Roman" panose="02020603050405020304" pitchFamily="18" charset="0"/>
            </a:endParaRPr>
          </a:p>
          <a:p>
            <a:pPr marL="285750" indent="-228600" algn="just">
              <a:lnSpc>
                <a:spcPct val="90000"/>
              </a:lnSpc>
              <a:spcAft>
                <a:spcPts val="600"/>
              </a:spcAf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When conducting a literature search for biogenic markers associated with Rett syndrome, it is observed that the </a:t>
            </a:r>
            <a:r>
              <a:rPr lang="en-US" sz="1700" b="1" dirty="0">
                <a:latin typeface="Times New Roman" panose="02020603050405020304" pitchFamily="18" charset="0"/>
                <a:cs typeface="Times New Roman" panose="02020603050405020304" pitchFamily="18" charset="0"/>
              </a:rPr>
              <a:t>MECp2</a:t>
            </a:r>
            <a:r>
              <a:rPr lang="en-US" sz="1700" dirty="0">
                <a:latin typeface="Times New Roman" panose="02020603050405020304" pitchFamily="18" charset="0"/>
                <a:cs typeface="Times New Roman" panose="02020603050405020304" pitchFamily="18" charset="0"/>
              </a:rPr>
              <a:t> gene serves as a notable biomarker for this syndrome.</a:t>
            </a:r>
          </a:p>
          <a:p>
            <a:pPr marL="285750" indent="-228600" algn="just">
              <a:lnSpc>
                <a:spcPct val="90000"/>
              </a:lnSpc>
              <a:spcAft>
                <a:spcPts val="600"/>
              </a:spcAft>
              <a:buFont typeface="Arial" panose="020B0604020202020204" pitchFamily="34" charset="0"/>
              <a:buChar char="•"/>
            </a:pPr>
            <a:endParaRPr lang="en-US" sz="1700" dirty="0">
              <a:latin typeface="Times New Roman" panose="02020603050405020304" pitchFamily="18" charset="0"/>
              <a:cs typeface="Times New Roman" panose="02020603050405020304" pitchFamily="18" charset="0"/>
            </a:endParaRPr>
          </a:p>
          <a:p>
            <a:pPr marL="285750" indent="-228600" algn="just">
              <a:lnSpc>
                <a:spcPct val="90000"/>
              </a:lnSpc>
              <a:spcAft>
                <a:spcPts val="600"/>
              </a:spcAf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For performing microarray data analysis on Rett syndrome, we employed data retrieving from the </a:t>
            </a:r>
            <a:r>
              <a:rPr lang="en-US" sz="1700" b="1" dirty="0">
                <a:latin typeface="Times New Roman" panose="02020603050405020304" pitchFamily="18" charset="0"/>
                <a:cs typeface="Times New Roman" panose="02020603050405020304" pitchFamily="18" charset="0"/>
              </a:rPr>
              <a:t>Gene</a:t>
            </a:r>
            <a:r>
              <a:rPr lang="en-US" sz="1700" dirty="0">
                <a:latin typeface="Times New Roman" panose="02020603050405020304" pitchFamily="18" charset="0"/>
                <a:cs typeface="Times New Roman" panose="02020603050405020304" pitchFamily="18" charset="0"/>
              </a:rPr>
              <a:t> </a:t>
            </a:r>
            <a:r>
              <a:rPr lang="en-US" sz="1700" b="1" dirty="0">
                <a:latin typeface="Times New Roman" panose="02020603050405020304" pitchFamily="18" charset="0"/>
                <a:cs typeface="Times New Roman" panose="02020603050405020304" pitchFamily="18" charset="0"/>
              </a:rPr>
              <a:t>Expression Omnibus (GEO) </a:t>
            </a:r>
            <a:r>
              <a:rPr lang="en-US" sz="1700" dirty="0">
                <a:latin typeface="Times New Roman" panose="02020603050405020304" pitchFamily="18" charset="0"/>
                <a:cs typeface="Times New Roman" panose="02020603050405020304" pitchFamily="18" charset="0"/>
              </a:rPr>
              <a:t>database.</a:t>
            </a:r>
          </a:p>
          <a:p>
            <a:pPr marL="57150" algn="just">
              <a:lnSpc>
                <a:spcPct val="90000"/>
              </a:lnSpc>
              <a:spcAft>
                <a:spcPts val="600"/>
              </a:spcAft>
            </a:pPr>
            <a:endParaRPr lang="en-US" sz="1700" dirty="0">
              <a:latin typeface="Times New Roman" panose="02020603050405020304" pitchFamily="18" charset="0"/>
              <a:cs typeface="Times New Roman" panose="02020603050405020304" pitchFamily="18" charset="0"/>
            </a:endParaRPr>
          </a:p>
          <a:p>
            <a:pPr marL="285750" indent="-228600" algn="just">
              <a:lnSpc>
                <a:spcPct val="90000"/>
              </a:lnSpc>
              <a:spcAft>
                <a:spcPts val="600"/>
              </a:spcAft>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The information was retrieved from the dataset of accession number: </a:t>
            </a:r>
            <a:r>
              <a:rPr lang="en-US" sz="1700" b="1" dirty="0">
                <a:latin typeface="Times New Roman" panose="02020603050405020304" pitchFamily="18" charset="0"/>
                <a:cs typeface="Times New Roman" panose="02020603050405020304" pitchFamily="18" charset="0"/>
              </a:rPr>
              <a:t>GSE214548</a:t>
            </a:r>
            <a:r>
              <a:rPr lang="en-US" sz="1700" dirty="0">
                <a:latin typeface="Times New Roman" panose="02020603050405020304" pitchFamily="18" charset="0"/>
                <a:cs typeface="Times New Roman" panose="02020603050405020304" pitchFamily="18" charset="0"/>
              </a:rPr>
              <a:t>.</a:t>
            </a:r>
          </a:p>
          <a:p>
            <a:pPr indent="-228600" algn="just">
              <a:lnSpc>
                <a:spcPct val="90000"/>
              </a:lnSpc>
              <a:spcAft>
                <a:spcPts val="600"/>
              </a:spcAft>
              <a:buFont typeface="Arial" panose="020B0604020202020204" pitchFamily="34" charset="0"/>
              <a:buChar char="•"/>
            </a:pPr>
            <a:endParaRPr lang="en-US" sz="1700" dirty="0">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endParaRPr lang="en-US" sz="1700" dirty="0">
              <a:latin typeface="Times New Roman" panose="02020603050405020304" pitchFamily="18" charset="0"/>
              <a:cs typeface="Times New Roman" panose="02020603050405020304" pitchFamily="18" charset="0"/>
            </a:endParaRPr>
          </a:p>
          <a:p>
            <a:pPr marL="285750" indent="-228600">
              <a:lnSpc>
                <a:spcPct val="90000"/>
              </a:lnSpc>
              <a:spcAft>
                <a:spcPts val="600"/>
              </a:spcAft>
              <a:buFont typeface="Arial" panose="020B0604020202020204" pitchFamily="34" charset="0"/>
              <a:buChar char="•"/>
            </a:pPr>
            <a:endParaRPr lang="en-US" sz="1100" dirty="0"/>
          </a:p>
        </p:txBody>
      </p:sp>
    </p:spTree>
    <p:extLst>
      <p:ext uri="{BB962C8B-B14F-4D97-AF65-F5344CB8AC3E}">
        <p14:creationId xmlns:p14="http://schemas.microsoft.com/office/powerpoint/2010/main" val="2076150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556" y="2372156"/>
            <a:ext cx="4572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 name="Rectangle 20">
            <a:extLst>
              <a:ext uri="{FF2B5EF4-FFF2-40B4-BE49-F238E27FC236}">
                <a16:creationId xmlns:a16="http://schemas.microsoft.com/office/drawing/2014/main" id="{87F16C5A-0D41-47A9-B0A2-9C2AD7A8C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63337CA-9A38-91D6-4F99-39FDF69CB473}"/>
              </a:ext>
            </a:extLst>
          </p:cNvPr>
          <p:cNvPicPr>
            <a:picLocks noChangeAspect="1"/>
          </p:cNvPicPr>
          <p:nvPr/>
        </p:nvPicPr>
        <p:blipFill>
          <a:blip r:embed="rId2"/>
          <a:stretch>
            <a:fillRect/>
          </a:stretch>
        </p:blipFill>
        <p:spPr>
          <a:xfrm>
            <a:off x="155176" y="1630181"/>
            <a:ext cx="5785658" cy="3746212"/>
          </a:xfrm>
          <a:prstGeom prst="rect">
            <a:avLst/>
          </a:prstGeom>
        </p:spPr>
      </p:pic>
      <p:sp>
        <p:nvSpPr>
          <p:cNvPr id="4" name="TextBox 3">
            <a:extLst>
              <a:ext uri="{FF2B5EF4-FFF2-40B4-BE49-F238E27FC236}">
                <a16:creationId xmlns:a16="http://schemas.microsoft.com/office/drawing/2014/main" id="{42BE4DC7-7757-0D80-DC07-CC63CDBFBC7B}"/>
              </a:ext>
            </a:extLst>
          </p:cNvPr>
          <p:cNvSpPr txBox="1"/>
          <p:nvPr/>
        </p:nvSpPr>
        <p:spPr>
          <a:xfrm>
            <a:off x="6251166" y="407785"/>
            <a:ext cx="5785658" cy="6254020"/>
          </a:xfrm>
          <a:prstGeom prst="rect">
            <a:avLst/>
          </a:prstGeom>
          <a:noFill/>
        </p:spPr>
        <p:txBody>
          <a:bodyPr wrap="square" rtlCol="0">
            <a:spAutoFit/>
          </a:bodyPr>
          <a:lstStyle/>
          <a:p>
            <a:pPr algn="just">
              <a:lnSpc>
                <a:spcPct val="90000"/>
              </a:lnSpc>
              <a:spcAft>
                <a:spcPts val="600"/>
              </a:spcAft>
            </a:pPr>
            <a:r>
              <a:rPr lang="en-US" sz="2800" b="1" dirty="0">
                <a:latin typeface="Times New Roman" panose="02020603050405020304" pitchFamily="18" charset="0"/>
                <a:cs typeface="Times New Roman" panose="02020603050405020304" pitchFamily="18" charset="0"/>
              </a:rPr>
              <a:t>Micro Array Analysis using </a:t>
            </a:r>
            <a:r>
              <a:rPr lang="en-US" sz="2800" b="1" dirty="0" err="1">
                <a:latin typeface="Times New Roman" panose="02020603050405020304" pitchFamily="18" charset="0"/>
                <a:cs typeface="Times New Roman" panose="02020603050405020304" pitchFamily="18" charset="0"/>
              </a:rPr>
              <a:t>edgeR</a:t>
            </a:r>
            <a:r>
              <a:rPr lang="en-US" sz="2800" b="1" dirty="0">
                <a:latin typeface="Times New Roman" panose="02020603050405020304" pitchFamily="18" charset="0"/>
                <a:cs typeface="Times New Roman" panose="02020603050405020304" pitchFamily="18" charset="0"/>
              </a:rPr>
              <a:t>:</a:t>
            </a:r>
          </a:p>
          <a:p>
            <a:pPr marL="342900" indent="-228600" algn="just">
              <a:lnSpc>
                <a:spcPct val="90000"/>
              </a:lnSpc>
              <a:spcAft>
                <a:spcPts val="600"/>
              </a:spcAf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400050" indent="-285750" algn="just">
              <a:lnSpc>
                <a:spcPct val="90000"/>
              </a:lnSpc>
              <a:spcAft>
                <a:spcPts val="600"/>
              </a:spcAf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 Utilized the dataset </a:t>
            </a:r>
            <a:r>
              <a:rPr lang="en-US" sz="1800" b="1" dirty="0">
                <a:latin typeface="Times New Roman" panose="02020603050405020304" pitchFamily="18" charset="0"/>
                <a:cs typeface="Times New Roman" panose="02020603050405020304" pitchFamily="18" charset="0"/>
              </a:rPr>
              <a:t>GSE214548</a:t>
            </a:r>
            <a:r>
              <a:rPr lang="en-US" sz="1800" dirty="0">
                <a:latin typeface="Times New Roman" panose="02020603050405020304" pitchFamily="18" charset="0"/>
                <a:cs typeface="Times New Roman" panose="02020603050405020304" pitchFamily="18" charset="0"/>
              </a:rPr>
              <a:t>, encompassing nine distinct sets, including </a:t>
            </a:r>
            <a:r>
              <a:rPr lang="en-US" sz="1800" b="1" dirty="0">
                <a:latin typeface="Times New Roman" panose="02020603050405020304" pitchFamily="18" charset="0"/>
                <a:cs typeface="Times New Roman" panose="02020603050405020304" pitchFamily="18" charset="0"/>
              </a:rPr>
              <a:t>control, </a:t>
            </a:r>
            <a:r>
              <a:rPr lang="en-US" b="1" dirty="0">
                <a:latin typeface="Times New Roman" panose="02020603050405020304" pitchFamily="18" charset="0"/>
                <a:cs typeface="Times New Roman" panose="02020603050405020304" pitchFamily="18" charset="0"/>
              </a:rPr>
              <a:t>and </a:t>
            </a:r>
            <a:r>
              <a:rPr lang="en-US" b="1" dirty="0" err="1">
                <a:latin typeface="Times New Roman" panose="02020603050405020304" pitchFamily="18" charset="0"/>
                <a:cs typeface="Times New Roman" panose="02020603050405020304" pitchFamily="18" charset="0"/>
              </a:rPr>
              <a:t>rett</a:t>
            </a:r>
            <a:r>
              <a:rPr lang="en-US" b="1" dirty="0">
                <a:latin typeface="Times New Roman" panose="02020603050405020304" pitchFamily="18" charset="0"/>
                <a:cs typeface="Times New Roman" panose="02020603050405020304" pitchFamily="18" charset="0"/>
              </a:rPr>
              <a:t> syndrome </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datasets. And Cleaned the dataset, resulting in nine columns of data representing the three groups.</a:t>
            </a:r>
          </a:p>
          <a:p>
            <a:pPr marL="342900" indent="-228600" algn="just">
              <a:lnSpc>
                <a:spcPct val="90000"/>
              </a:lnSpc>
              <a:spcAft>
                <a:spcPts val="600"/>
              </a:spcAf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Grouped the cleaned datasets into three distinct groups, namely control, </a:t>
            </a:r>
            <a:r>
              <a:rPr lang="en-US" dirty="0">
                <a:latin typeface="Times New Roman" panose="02020603050405020304" pitchFamily="18" charset="0"/>
                <a:cs typeface="Times New Roman" panose="02020603050405020304" pitchFamily="18" charset="0"/>
              </a:rPr>
              <a:t>and </a:t>
            </a:r>
            <a:r>
              <a:rPr lang="en-US" dirty="0" err="1">
                <a:latin typeface="Times New Roman" panose="02020603050405020304" pitchFamily="18" charset="0"/>
                <a:cs typeface="Times New Roman" panose="02020603050405020304" pitchFamily="18" charset="0"/>
              </a:rPr>
              <a:t>rett</a:t>
            </a:r>
            <a:r>
              <a:rPr lang="en-US" dirty="0">
                <a:latin typeface="Times New Roman" panose="02020603050405020304" pitchFamily="18" charset="0"/>
                <a:cs typeface="Times New Roman" panose="02020603050405020304" pitchFamily="18" charset="0"/>
              </a:rPr>
              <a:t> syndrome </a:t>
            </a:r>
            <a:r>
              <a:rPr lang="en-US" sz="1800" dirty="0">
                <a:latin typeface="Times New Roman" panose="02020603050405020304" pitchFamily="18" charset="0"/>
                <a:cs typeface="Times New Roman" panose="02020603050405020304" pitchFamily="18" charset="0"/>
              </a:rPr>
              <a:t>to facilitate subsequent analysis.</a:t>
            </a:r>
          </a:p>
          <a:p>
            <a:pPr marL="342900" indent="-228600" algn="just">
              <a:lnSpc>
                <a:spcPct val="90000"/>
              </a:lnSpc>
              <a:spcAft>
                <a:spcPts val="600"/>
              </a:spcAf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Employed the </a:t>
            </a:r>
            <a:r>
              <a:rPr lang="en-US" sz="1800" b="1" dirty="0" err="1">
                <a:latin typeface="Times New Roman" panose="02020603050405020304" pitchFamily="18" charset="0"/>
                <a:cs typeface="Times New Roman" panose="02020603050405020304" pitchFamily="18" charset="0"/>
              </a:rPr>
              <a:t>edgeR</a:t>
            </a:r>
            <a:r>
              <a:rPr lang="en-US" sz="1800" dirty="0">
                <a:latin typeface="Times New Roman" panose="02020603050405020304" pitchFamily="18" charset="0"/>
                <a:cs typeface="Times New Roman" panose="02020603050405020304" pitchFamily="18" charset="0"/>
              </a:rPr>
              <a:t> package in R for </a:t>
            </a:r>
            <a:r>
              <a:rPr lang="en-US" sz="1800" dirty="0" err="1">
                <a:latin typeface="Times New Roman" panose="02020603050405020304" pitchFamily="18" charset="0"/>
                <a:cs typeface="Times New Roman" panose="02020603050405020304" pitchFamily="18" charset="0"/>
              </a:rPr>
              <a:t>MicroArray</a:t>
            </a:r>
            <a:r>
              <a:rPr lang="en-US" sz="1800" dirty="0">
                <a:latin typeface="Times New Roman" panose="02020603050405020304" pitchFamily="18" charset="0"/>
                <a:cs typeface="Times New Roman" panose="02020603050405020304" pitchFamily="18" charset="0"/>
              </a:rPr>
              <a:t> analysis.   And Executed the analysis and generated CSV files containing </a:t>
            </a:r>
            <a:r>
              <a:rPr lang="en-US" sz="1800" b="1" dirty="0" err="1">
                <a:latin typeface="Times New Roman" panose="02020603050405020304" pitchFamily="18" charset="0"/>
                <a:cs typeface="Times New Roman" panose="02020603050405020304" pitchFamily="18" charset="0"/>
              </a:rPr>
              <a:t>logFC</a:t>
            </a:r>
            <a:r>
              <a:rPr lang="en-US" sz="1800" dirty="0">
                <a:latin typeface="Times New Roman" panose="02020603050405020304" pitchFamily="18" charset="0"/>
                <a:cs typeface="Times New Roman" panose="02020603050405020304" pitchFamily="18" charset="0"/>
              </a:rPr>
              <a:t> (log-fold change), </a:t>
            </a:r>
            <a:r>
              <a:rPr lang="en-US" sz="1800" b="1" dirty="0" err="1">
                <a:latin typeface="Times New Roman" panose="02020603050405020304" pitchFamily="18" charset="0"/>
                <a:cs typeface="Times New Roman" panose="02020603050405020304" pitchFamily="18" charset="0"/>
              </a:rPr>
              <a:t>logCPM</a:t>
            </a:r>
            <a:r>
              <a:rPr lang="en-US" sz="1800" dirty="0">
                <a:latin typeface="Times New Roman" panose="02020603050405020304" pitchFamily="18" charset="0"/>
                <a:cs typeface="Times New Roman" panose="02020603050405020304" pitchFamily="18" charset="0"/>
              </a:rPr>
              <a:t> (log counts per million), P values, and FDR values.</a:t>
            </a:r>
          </a:p>
          <a:p>
            <a:pPr marL="342900" indent="-228600" algn="just">
              <a:lnSpc>
                <a:spcPct val="90000"/>
              </a:lnSpc>
              <a:spcAft>
                <a:spcPts val="600"/>
              </a:spcAf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Applied filtering criteria on the CSV files, including a </a:t>
            </a:r>
            <a:r>
              <a:rPr lang="en-US" sz="1800" dirty="0" err="1">
                <a:latin typeface="Times New Roman" panose="02020603050405020304" pitchFamily="18" charset="0"/>
                <a:cs typeface="Times New Roman" panose="02020603050405020304" pitchFamily="18" charset="0"/>
              </a:rPr>
              <a:t>logFC</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Threshold of |2| </a:t>
            </a:r>
            <a:r>
              <a:rPr lang="en-US" sz="1800" dirty="0">
                <a:latin typeface="Times New Roman" panose="02020603050405020304" pitchFamily="18" charset="0"/>
                <a:cs typeface="Times New Roman" panose="02020603050405020304" pitchFamily="18" charset="0"/>
              </a:rPr>
              <a:t>and a significance threshold of </a:t>
            </a:r>
            <a:r>
              <a:rPr lang="en-US" sz="1800" b="1" dirty="0">
                <a:latin typeface="Times New Roman" panose="02020603050405020304" pitchFamily="18" charset="0"/>
                <a:cs typeface="Times New Roman" panose="02020603050405020304" pitchFamily="18" charset="0"/>
              </a:rPr>
              <a:t>less than 0.05 for probability values</a:t>
            </a:r>
            <a:r>
              <a:rPr lang="en-US" sz="1800" dirty="0">
                <a:latin typeface="Times New Roman" panose="02020603050405020304" pitchFamily="18" charset="0"/>
                <a:cs typeface="Times New Roman" panose="02020603050405020304" pitchFamily="18" charset="0"/>
              </a:rPr>
              <a:t>.</a:t>
            </a:r>
          </a:p>
          <a:p>
            <a:pPr marL="342900" indent="-228600" algn="just">
              <a:lnSpc>
                <a:spcPct val="90000"/>
              </a:lnSpc>
              <a:spcAft>
                <a:spcPts val="600"/>
              </a:spcAf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Through the filtering process, we identified a significant gene</a:t>
            </a:r>
            <a:r>
              <a:rPr lang="en-US" sz="1800" b="1" dirty="0">
                <a:latin typeface="Times New Roman" panose="02020603050405020304" pitchFamily="18" charset="0"/>
                <a:cs typeface="Times New Roman" panose="02020603050405020304" pitchFamily="18" charset="0"/>
              </a:rPr>
              <a:t>, CTCF, </a:t>
            </a:r>
            <a:r>
              <a:rPr lang="en-US" sz="1800" dirty="0">
                <a:latin typeface="Times New Roman" panose="02020603050405020304" pitchFamily="18" charset="0"/>
                <a:cs typeface="Times New Roman" panose="02020603050405020304" pitchFamily="18" charset="0"/>
              </a:rPr>
              <a:t>with the Ensemble </a:t>
            </a:r>
            <a:r>
              <a:rPr lang="en-US" sz="1800" b="1" dirty="0">
                <a:latin typeface="Times New Roman" panose="02020603050405020304" pitchFamily="18" charset="0"/>
                <a:cs typeface="Times New Roman" panose="02020603050405020304" pitchFamily="18" charset="0"/>
              </a:rPr>
              <a:t>ID ENSG00000102974.</a:t>
            </a:r>
          </a:p>
          <a:p>
            <a:pPr marL="342900" indent="-228600" algn="just">
              <a:lnSpc>
                <a:spcPct val="90000"/>
              </a:lnSpc>
              <a:spcAft>
                <a:spcPts val="600"/>
              </a:spcAf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Post </a:t>
            </a:r>
            <a:r>
              <a:rPr lang="en-US" sz="1800" dirty="0" err="1">
                <a:latin typeface="Times New Roman" panose="02020603050405020304" pitchFamily="18" charset="0"/>
                <a:cs typeface="Times New Roman" panose="02020603050405020304" pitchFamily="18" charset="0"/>
              </a:rPr>
              <a:t>edgeR</a:t>
            </a:r>
            <a:r>
              <a:rPr lang="en-US" sz="1800" dirty="0">
                <a:latin typeface="Times New Roman" panose="02020603050405020304" pitchFamily="18" charset="0"/>
                <a:cs typeface="Times New Roman" panose="02020603050405020304" pitchFamily="18" charset="0"/>
              </a:rPr>
              <a:t> analysis, generated a graphical representation to visualize the results, providing insights into differential gene expression patterns</a:t>
            </a:r>
            <a:r>
              <a:rPr lang="en-US" sz="1800" dirty="0">
                <a:solidFill>
                  <a:schemeClr val="bg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55962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Rectangle 15">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cxnSp>
        <p:nvCxnSpPr>
          <p:cNvPr id="18" name="Straight Connector 17">
            <a:extLst>
              <a:ext uri="{FF2B5EF4-FFF2-40B4-BE49-F238E27FC236}">
                <a16:creationId xmlns:a16="http://schemas.microsoft.com/office/drawing/2014/main" id="{02E9B2EE-76CA-47F3-9977-3F2FCB7FD2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739239"/>
            <a:ext cx="0" cy="32004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3"/>
          <a:stretch>
            <a:fillRect/>
          </a:stretch>
        </p:blipFill>
        <p:spPr>
          <a:xfrm>
            <a:off x="1800487" y="1739239"/>
            <a:ext cx="3569149" cy="3147122"/>
          </a:xfrm>
          <a:prstGeom prst="rect">
            <a:avLst/>
          </a:prstGeom>
        </p:spPr>
      </p:pic>
      <p:pic>
        <p:nvPicPr>
          <p:cNvPr id="5" name="Picture 4"/>
          <p:cNvPicPr>
            <a:picLocks noChangeAspect="1"/>
          </p:cNvPicPr>
          <p:nvPr/>
        </p:nvPicPr>
        <p:blipFill>
          <a:blip r:embed="rId4"/>
          <a:stretch>
            <a:fillRect/>
          </a:stretch>
        </p:blipFill>
        <p:spPr>
          <a:xfrm>
            <a:off x="6676396" y="1718359"/>
            <a:ext cx="3550767" cy="3221280"/>
          </a:xfrm>
          <a:prstGeom prst="rect">
            <a:avLst/>
          </a:prstGeom>
        </p:spPr>
      </p:pic>
      <p:sp>
        <p:nvSpPr>
          <p:cNvPr id="6" name="TextBox 5"/>
          <p:cNvSpPr txBox="1"/>
          <p:nvPr/>
        </p:nvSpPr>
        <p:spPr>
          <a:xfrm>
            <a:off x="1487055" y="971970"/>
            <a:ext cx="942109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MICRO ARRAY DATA ANALYSIS FOR TRANSCRIPTOME DATA</a:t>
            </a:r>
          </a:p>
        </p:txBody>
      </p:sp>
    </p:spTree>
    <p:extLst>
      <p:ext uri="{BB962C8B-B14F-4D97-AF65-F5344CB8AC3E}">
        <p14:creationId xmlns:p14="http://schemas.microsoft.com/office/powerpoint/2010/main" val="2532218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BE9BD6E-1675-D5B5-3260-5D5EFA828F31}"/>
              </a:ext>
            </a:extLst>
          </p:cNvPr>
          <p:cNvSpPr txBox="1"/>
          <p:nvPr/>
        </p:nvSpPr>
        <p:spPr>
          <a:xfrm>
            <a:off x="231709" y="362536"/>
            <a:ext cx="5060330" cy="195684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b="1" dirty="0">
                <a:latin typeface="Times New Roman" panose="02020603050405020304" pitchFamily="18" charset="0"/>
                <a:ea typeface="+mj-ea"/>
                <a:cs typeface="Times New Roman" panose="02020603050405020304" pitchFamily="18" charset="0"/>
              </a:rPr>
              <a:t>Drug Designing</a:t>
            </a:r>
          </a:p>
        </p:txBody>
      </p:sp>
      <p:sp>
        <p:nvSpPr>
          <p:cNvPr id="3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7485F0D-D404-D31A-665A-3416817F7301}"/>
              </a:ext>
            </a:extLst>
          </p:cNvPr>
          <p:cNvSpPr txBox="1"/>
          <p:nvPr/>
        </p:nvSpPr>
        <p:spPr>
          <a:xfrm>
            <a:off x="640080" y="2872899"/>
            <a:ext cx="4243589" cy="3320668"/>
          </a:xfrm>
          <a:prstGeom prst="rect">
            <a:avLst/>
          </a:prstGeom>
        </p:spPr>
        <p:txBody>
          <a:bodyPr vert="horz" lIns="91440" tIns="45720" rIns="91440" bIns="45720" rtlCol="0">
            <a:normAutofit/>
          </a:bodyPr>
          <a:lstStyle/>
          <a:p>
            <a:pPr marL="285750" indent="-228600">
              <a:lnSpc>
                <a:spcPct val="90000"/>
              </a:lnSpc>
              <a:spcAft>
                <a:spcPts val="600"/>
              </a:spcAf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Homology Modelling</a:t>
            </a:r>
          </a:p>
          <a:p>
            <a:pPr marL="285750" indent="-228600">
              <a:lnSpc>
                <a:spcPct val="90000"/>
              </a:lnSpc>
              <a:spcAft>
                <a:spcPts val="600"/>
              </a:spcAf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Docking Studies </a:t>
            </a:r>
          </a:p>
          <a:p>
            <a:pPr marL="285750" indent="-228600">
              <a:lnSpc>
                <a:spcPct val="90000"/>
              </a:lnSpc>
              <a:spcAft>
                <a:spcPts val="600"/>
              </a:spcAf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Molecular Dynamics &amp; Simulations </a:t>
            </a:r>
          </a:p>
        </p:txBody>
      </p:sp>
      <p:pic>
        <p:nvPicPr>
          <p:cNvPr id="5" name="Picture 4">
            <a:extLst>
              <a:ext uri="{FF2B5EF4-FFF2-40B4-BE49-F238E27FC236}">
                <a16:creationId xmlns:a16="http://schemas.microsoft.com/office/drawing/2014/main" id="{DD16274A-2BF1-7B88-BE2C-DA367E5A8151}"/>
              </a:ext>
            </a:extLst>
          </p:cNvPr>
          <p:cNvPicPr>
            <a:picLocks noChangeAspect="1"/>
          </p:cNvPicPr>
          <p:nvPr/>
        </p:nvPicPr>
        <p:blipFill rotWithShape="1">
          <a:blip r:embed="rId2"/>
          <a:srcRect l="10030" r="33550"/>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243303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1" name="Group 10">
            <a:extLst>
              <a:ext uri="{FF2B5EF4-FFF2-40B4-BE49-F238E27FC236}">
                <a16:creationId xmlns:a16="http://schemas.microsoft.com/office/drawing/2014/main" id="{514E1141-65DC-4F54-8399-7221AE6F83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96000" cy="6858000"/>
            <a:chOff x="7467600" y="0"/>
            <a:chExt cx="4724400" cy="6858000"/>
          </a:xfrm>
        </p:grpSpPr>
        <p:sp>
          <p:nvSpPr>
            <p:cNvPr id="12" name="Rectangle 11">
              <a:extLst>
                <a:ext uri="{FF2B5EF4-FFF2-40B4-BE49-F238E27FC236}">
                  <a16:creationId xmlns:a16="http://schemas.microsoft.com/office/drawing/2014/main" id="{DD75B897-7127-4AAC-A078-70739204B5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BDCFF188-DB07-46AA-A2B3-71E936EAB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5" name="Freeform: Shape 14">
            <a:extLst>
              <a:ext uri="{FF2B5EF4-FFF2-40B4-BE49-F238E27FC236}">
                <a16:creationId xmlns:a16="http://schemas.microsoft.com/office/drawing/2014/main" id="{215A9370-15D3-4C30-8BA1-2059A74C99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69701"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7" name="Rectangle 16">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990600"/>
            <a:ext cx="112776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extBox 1">
            <a:extLst>
              <a:ext uri="{FF2B5EF4-FFF2-40B4-BE49-F238E27FC236}">
                <a16:creationId xmlns:a16="http://schemas.microsoft.com/office/drawing/2014/main" id="{D652BE1A-5DA3-211F-CAF6-87AFE24D9B54}"/>
              </a:ext>
            </a:extLst>
          </p:cNvPr>
          <p:cNvSpPr txBox="1"/>
          <p:nvPr/>
        </p:nvSpPr>
        <p:spPr>
          <a:xfrm>
            <a:off x="691116" y="1127051"/>
            <a:ext cx="5153587" cy="4451761"/>
          </a:xfrm>
          <a:prstGeom prst="rect">
            <a:avLst/>
          </a:prstGeom>
        </p:spPr>
        <p:txBody>
          <a:bodyPr vert="horz" lIns="91440" tIns="45720" rIns="91440" bIns="45720" rtlCol="0">
            <a:noAutofit/>
          </a:bodyPr>
          <a:lstStyle/>
          <a:p>
            <a:pPr>
              <a:lnSpc>
                <a:spcPct val="90000"/>
              </a:lnSpc>
              <a:spcAft>
                <a:spcPts val="600"/>
              </a:spcAft>
            </a:pPr>
            <a:r>
              <a:rPr lang="en-US" sz="4000" b="1" u="sng" dirty="0">
                <a:solidFill>
                  <a:schemeClr val="tx1">
                    <a:lumMod val="95000"/>
                    <a:lumOff val="5000"/>
                    <a:alpha val="55000"/>
                  </a:schemeClr>
                </a:solidFill>
                <a:latin typeface="Times New Roman" panose="02020603050405020304" pitchFamily="18" charset="0"/>
                <a:cs typeface="Times New Roman" panose="02020603050405020304" pitchFamily="18" charset="0"/>
              </a:rPr>
              <a:t>Homology Modelling:</a:t>
            </a:r>
          </a:p>
          <a:p>
            <a:pPr indent="-228600">
              <a:lnSpc>
                <a:spcPct val="90000"/>
              </a:lnSpc>
              <a:spcAft>
                <a:spcPts val="600"/>
              </a:spcAft>
              <a:buFont typeface="Arial" panose="020B0604020202020204" pitchFamily="34" charset="0"/>
              <a:buChar char="•"/>
            </a:pPr>
            <a:endParaRPr lang="en-US" sz="1600" dirty="0">
              <a:solidFill>
                <a:schemeClr val="tx1">
                  <a:lumMod val="95000"/>
                  <a:lumOff val="5000"/>
                  <a:alpha val="55000"/>
                </a:schemeClr>
              </a:solidFill>
              <a:latin typeface="Times New Roman" panose="02020603050405020304" pitchFamily="18" charset="0"/>
              <a:cs typeface="Times New Roman" panose="02020603050405020304" pitchFamily="18" charset="0"/>
            </a:endParaRPr>
          </a:p>
          <a:p>
            <a:pPr marL="285750" indent="-228600" algn="just">
              <a:lnSpc>
                <a:spcPct val="90000"/>
              </a:lnSpc>
              <a:spcAft>
                <a:spcPts val="600"/>
              </a:spcAft>
              <a:buFont typeface="Arial" panose="020B0604020202020204" pitchFamily="34" charset="0"/>
              <a:buChar char="•"/>
            </a:pPr>
            <a:r>
              <a:rPr lang="en-US" b="1" dirty="0">
                <a:solidFill>
                  <a:schemeClr val="tx1">
                    <a:lumMod val="95000"/>
                    <a:lumOff val="5000"/>
                    <a:alpha val="55000"/>
                  </a:schemeClr>
                </a:solidFill>
                <a:latin typeface="Times New Roman" panose="02020603050405020304" pitchFamily="18" charset="0"/>
                <a:cs typeface="Times New Roman" panose="02020603050405020304" pitchFamily="18" charset="0"/>
              </a:rPr>
              <a:t>Conducted a search for the CTCF protein in the Protein Data Bank (PDB) and identified a 3D structure with a high resolution (1.65 Angstrom), denoted by PDB ID 6OGK.</a:t>
            </a:r>
          </a:p>
          <a:p>
            <a:pPr marL="285750" indent="-228600" algn="just">
              <a:lnSpc>
                <a:spcPct val="90000"/>
              </a:lnSpc>
              <a:spcAft>
                <a:spcPts val="600"/>
              </a:spcAft>
              <a:buFont typeface="Arial" panose="020B0604020202020204" pitchFamily="34" charset="0"/>
              <a:buChar char="•"/>
            </a:pPr>
            <a:r>
              <a:rPr lang="en-US" b="1" dirty="0">
                <a:solidFill>
                  <a:schemeClr val="tx1">
                    <a:lumMod val="95000"/>
                    <a:lumOff val="5000"/>
                    <a:alpha val="55000"/>
                  </a:schemeClr>
                </a:solidFill>
                <a:latin typeface="Times New Roman" panose="02020603050405020304" pitchFamily="18" charset="0"/>
                <a:cs typeface="Times New Roman" panose="02020603050405020304" pitchFamily="18" charset="0"/>
              </a:rPr>
              <a:t>Noted a significant presence of missing residues in the 6OGK structure.</a:t>
            </a:r>
          </a:p>
          <a:p>
            <a:pPr marL="285750" indent="-228600" algn="just">
              <a:lnSpc>
                <a:spcPct val="90000"/>
              </a:lnSpc>
              <a:spcAft>
                <a:spcPts val="600"/>
              </a:spcAft>
              <a:buFont typeface="Arial" panose="020B0604020202020204" pitchFamily="34" charset="0"/>
              <a:buChar char="•"/>
            </a:pPr>
            <a:r>
              <a:rPr lang="en-US" b="1" dirty="0">
                <a:solidFill>
                  <a:schemeClr val="tx1">
                    <a:lumMod val="95000"/>
                    <a:lumOff val="5000"/>
                    <a:alpha val="55000"/>
                  </a:schemeClr>
                </a:solidFill>
                <a:latin typeface="Times New Roman" panose="02020603050405020304" pitchFamily="18" charset="0"/>
                <a:cs typeface="Times New Roman" panose="02020603050405020304" pitchFamily="18" charset="0"/>
              </a:rPr>
              <a:t>Addressed missing residues through homology modeling using </a:t>
            </a:r>
            <a:r>
              <a:rPr lang="en-US" b="1" dirty="0" err="1">
                <a:solidFill>
                  <a:schemeClr val="tx1">
                    <a:lumMod val="95000"/>
                    <a:lumOff val="5000"/>
                    <a:alpha val="55000"/>
                  </a:schemeClr>
                </a:solidFill>
                <a:latin typeface="Times New Roman" panose="02020603050405020304" pitchFamily="18" charset="0"/>
                <a:cs typeface="Times New Roman" panose="02020603050405020304" pitchFamily="18" charset="0"/>
              </a:rPr>
              <a:t>Modeller</a:t>
            </a:r>
            <a:r>
              <a:rPr lang="en-US" b="1" dirty="0">
                <a:solidFill>
                  <a:schemeClr val="tx1">
                    <a:lumMod val="95000"/>
                    <a:lumOff val="5000"/>
                    <a:alpha val="55000"/>
                  </a:schemeClr>
                </a:solidFill>
                <a:latin typeface="Times New Roman" panose="02020603050405020304" pitchFamily="18" charset="0"/>
                <a:cs typeface="Times New Roman" panose="02020603050405020304" pitchFamily="18" charset="0"/>
              </a:rPr>
              <a:t>, employing four templates with PDB IDs: 3C2I, 6YWW, 5BT2, and 6OGJ.</a:t>
            </a:r>
          </a:p>
          <a:p>
            <a:pPr marL="285750" indent="-228600" algn="just">
              <a:lnSpc>
                <a:spcPct val="90000"/>
              </a:lnSpc>
              <a:spcAft>
                <a:spcPts val="600"/>
              </a:spcAft>
              <a:buFont typeface="Arial" panose="020B0604020202020204" pitchFamily="34" charset="0"/>
              <a:buChar char="•"/>
            </a:pPr>
            <a:r>
              <a:rPr lang="en-US" b="1" dirty="0">
                <a:solidFill>
                  <a:schemeClr val="tx1">
                    <a:lumMod val="95000"/>
                    <a:lumOff val="5000"/>
                    <a:alpha val="55000"/>
                  </a:schemeClr>
                </a:solidFill>
                <a:latin typeface="Times New Roman" panose="02020603050405020304" pitchFamily="18" charset="0"/>
                <a:cs typeface="Times New Roman" panose="02020603050405020304" pitchFamily="18" charset="0"/>
              </a:rPr>
              <a:t>Following homology modeling, the third model was identified as the best model, characterized by a DOPE score of -6206.646.</a:t>
            </a:r>
          </a:p>
        </p:txBody>
      </p:sp>
      <p:pic>
        <p:nvPicPr>
          <p:cNvPr id="4" name="Picture 3">
            <a:extLst>
              <a:ext uri="{FF2B5EF4-FFF2-40B4-BE49-F238E27FC236}">
                <a16:creationId xmlns:a16="http://schemas.microsoft.com/office/drawing/2014/main" id="{7A78AC4B-FE23-4FFD-5B31-AAC3ABF76FDB}"/>
              </a:ext>
            </a:extLst>
          </p:cNvPr>
          <p:cNvPicPr>
            <a:picLocks noChangeAspect="1"/>
          </p:cNvPicPr>
          <p:nvPr/>
        </p:nvPicPr>
        <p:blipFill>
          <a:blip r:embed="rId2"/>
          <a:stretch>
            <a:fillRect/>
          </a:stretch>
        </p:blipFill>
        <p:spPr>
          <a:xfrm>
            <a:off x="5844703" y="2296940"/>
            <a:ext cx="5776433" cy="2710507"/>
          </a:xfrm>
          <a:prstGeom prst="rect">
            <a:avLst/>
          </a:prstGeom>
        </p:spPr>
      </p:pic>
    </p:spTree>
    <p:extLst>
      <p:ext uri="{BB962C8B-B14F-4D97-AF65-F5344CB8AC3E}">
        <p14:creationId xmlns:p14="http://schemas.microsoft.com/office/powerpoint/2010/main" val="2294458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AutoShape 10">
            <a:extLst>
              <a:ext uri="{FF2B5EF4-FFF2-40B4-BE49-F238E27FC236}">
                <a16:creationId xmlns:a16="http://schemas.microsoft.com/office/drawing/2014/main" id="{46217404-77E3-09A5-E6B9-24A4760B3ED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30" name="Diagram 29">
            <a:extLst>
              <a:ext uri="{FF2B5EF4-FFF2-40B4-BE49-F238E27FC236}">
                <a16:creationId xmlns:a16="http://schemas.microsoft.com/office/drawing/2014/main" id="{D584A2D0-68AC-7710-DA0A-9A173DB6C140}"/>
              </a:ext>
            </a:extLst>
          </p:cNvPr>
          <p:cNvGraphicFramePr/>
          <p:nvPr>
            <p:extLst>
              <p:ext uri="{D42A27DB-BD31-4B8C-83A1-F6EECF244321}">
                <p14:modId xmlns:p14="http://schemas.microsoft.com/office/powerpoint/2010/main" val="3331816965"/>
              </p:ext>
            </p:extLst>
          </p:nvPr>
        </p:nvGraphicFramePr>
        <p:xfrm>
          <a:off x="4067118" y="193963"/>
          <a:ext cx="7829810" cy="32752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8" name="Arrow: Circular 37">
            <a:extLst>
              <a:ext uri="{FF2B5EF4-FFF2-40B4-BE49-F238E27FC236}">
                <a16:creationId xmlns:a16="http://schemas.microsoft.com/office/drawing/2014/main" id="{86E5AF1A-B404-89A3-BF2F-FEE4EE0AF902}"/>
              </a:ext>
            </a:extLst>
          </p:cNvPr>
          <p:cNvSpPr/>
          <p:nvPr/>
        </p:nvSpPr>
        <p:spPr>
          <a:xfrm>
            <a:off x="758757" y="74815"/>
            <a:ext cx="3308362" cy="3631423"/>
          </a:xfrm>
          <a:prstGeom prst="circularArrow">
            <a:avLst>
              <a:gd name="adj1" fmla="val 4878"/>
              <a:gd name="adj2" fmla="val 312630"/>
              <a:gd name="adj3" fmla="val 3224359"/>
              <a:gd name="adj4" fmla="val 15113656"/>
              <a:gd name="adj5" fmla="val 5691"/>
            </a:avLst>
          </a:prstGeom>
          <a:scene3d>
            <a:camera prst="orthographicFront"/>
            <a:lightRig rig="flat" dir="t"/>
          </a:scene3d>
          <a:sp3d z="-80000" prstMaterial="plastic">
            <a:bevelT w="50800" h="50800"/>
            <a:bevelB w="25400" h="25400" prst="angle"/>
          </a:sp3d>
        </p:spPr>
        <p:style>
          <a:lnRef idx="0">
            <a:schemeClr val="accent6">
              <a:shade val="90000"/>
              <a:hueOff val="0"/>
              <a:satOff val="0"/>
              <a:lumOff val="0"/>
              <a:alphaOff val="0"/>
            </a:schemeClr>
          </a:lnRef>
          <a:fillRef idx="3">
            <a:schemeClr val="accent6">
              <a:shade val="90000"/>
              <a:hueOff val="0"/>
              <a:satOff val="0"/>
              <a:lumOff val="0"/>
              <a:alphaOff val="0"/>
            </a:schemeClr>
          </a:fillRef>
          <a:effectRef idx="2">
            <a:schemeClr val="accent6">
              <a:shade val="90000"/>
              <a:hueOff val="0"/>
              <a:satOff val="0"/>
              <a:lumOff val="0"/>
              <a:alphaOff val="0"/>
            </a:schemeClr>
          </a:effectRef>
          <a:fontRef idx="minor">
            <a:schemeClr val="lt1"/>
          </a:fontRef>
        </p:style>
        <p:txBody>
          <a:bodyPr/>
          <a:lstStyle/>
          <a:p>
            <a:endParaRPr lang="en-IN"/>
          </a:p>
        </p:txBody>
      </p:sp>
      <p:grpSp>
        <p:nvGrpSpPr>
          <p:cNvPr id="39" name="Group 38">
            <a:extLst>
              <a:ext uri="{FF2B5EF4-FFF2-40B4-BE49-F238E27FC236}">
                <a16:creationId xmlns:a16="http://schemas.microsoft.com/office/drawing/2014/main" id="{133627B3-D5CE-96B9-FA7C-22B32CAB03D6}"/>
              </a:ext>
            </a:extLst>
          </p:cNvPr>
          <p:cNvGrpSpPr/>
          <p:nvPr/>
        </p:nvGrpSpPr>
        <p:grpSpPr>
          <a:xfrm>
            <a:off x="758757" y="525087"/>
            <a:ext cx="2763375" cy="2824943"/>
            <a:chOff x="0" y="1576994"/>
            <a:chExt cx="2980266" cy="2980266"/>
          </a:xfrm>
          <a:scene3d>
            <a:camera prst="orthographicFront"/>
            <a:lightRig rig="flat" dir="t"/>
          </a:scene3d>
        </p:grpSpPr>
        <p:sp>
          <p:nvSpPr>
            <p:cNvPr id="40" name="Shape 39">
              <a:extLst>
                <a:ext uri="{FF2B5EF4-FFF2-40B4-BE49-F238E27FC236}">
                  <a16:creationId xmlns:a16="http://schemas.microsoft.com/office/drawing/2014/main" id="{DB68C85E-C606-533C-DC58-FFDE72C0450F}"/>
                </a:ext>
              </a:extLst>
            </p:cNvPr>
            <p:cNvSpPr/>
            <p:nvPr/>
          </p:nvSpPr>
          <p:spPr>
            <a:xfrm>
              <a:off x="0" y="1576994"/>
              <a:ext cx="2980266" cy="2980266"/>
            </a:xfrm>
            <a:prstGeom prst="gear9">
              <a:avLst/>
            </a:prstGeom>
            <a:sp3d prstMaterial="plastic">
              <a:bevelT w="120900" h="88900"/>
              <a:bevelB w="88900" h="31750" prst="angle"/>
            </a:sp3d>
          </p:spPr>
          <p:style>
            <a:lnRef idx="0">
              <a:schemeClr val="lt1">
                <a:hueOff val="0"/>
                <a:satOff val="0"/>
                <a:lumOff val="0"/>
                <a:alphaOff val="0"/>
              </a:schemeClr>
            </a:lnRef>
            <a:fillRef idx="3">
              <a:schemeClr val="accent6">
                <a:shade val="50000"/>
                <a:hueOff val="0"/>
                <a:satOff val="0"/>
                <a:lumOff val="0"/>
                <a:alphaOff val="0"/>
              </a:schemeClr>
            </a:fillRef>
            <a:effectRef idx="2">
              <a:schemeClr val="accent6">
                <a:shade val="50000"/>
                <a:hueOff val="0"/>
                <a:satOff val="0"/>
                <a:lumOff val="0"/>
                <a:alphaOff val="0"/>
              </a:schemeClr>
            </a:effectRef>
            <a:fontRef idx="minor">
              <a:schemeClr val="lt1"/>
            </a:fontRef>
          </p:style>
          <p:txBody>
            <a:bodyPr/>
            <a:lstStyle/>
            <a:p>
              <a:endParaRPr lang="en-IN"/>
            </a:p>
          </p:txBody>
        </p:sp>
        <p:sp>
          <p:nvSpPr>
            <p:cNvPr id="41" name="Shape 4">
              <a:extLst>
                <a:ext uri="{FF2B5EF4-FFF2-40B4-BE49-F238E27FC236}">
                  <a16:creationId xmlns:a16="http://schemas.microsoft.com/office/drawing/2014/main" id="{AD95BCFE-18A5-67F7-F0B3-ED4F34357C65}"/>
                </a:ext>
              </a:extLst>
            </p:cNvPr>
            <p:cNvSpPr txBox="1"/>
            <p:nvPr/>
          </p:nvSpPr>
          <p:spPr>
            <a:xfrm>
              <a:off x="599166" y="2275107"/>
              <a:ext cx="1781934" cy="1531918"/>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3200" b="1" kern="1200" noProof="0" dirty="0">
                  <a:latin typeface="Times New Roman" panose="02020603050405020304" pitchFamily="18" charset="0"/>
                  <a:cs typeface="Times New Roman" panose="02020603050405020304" pitchFamily="18" charset="0"/>
                </a:rPr>
                <a:t>Docking</a:t>
              </a:r>
            </a:p>
          </p:txBody>
        </p:sp>
      </p:grpSp>
      <p:pic>
        <p:nvPicPr>
          <p:cNvPr id="2" name="Picture 1">
            <a:extLst>
              <a:ext uri="{FF2B5EF4-FFF2-40B4-BE49-F238E27FC236}">
                <a16:creationId xmlns:a16="http://schemas.microsoft.com/office/drawing/2014/main" id="{4059E5E3-458F-A6A9-E923-F712F4AB2968}"/>
              </a:ext>
            </a:extLst>
          </p:cNvPr>
          <p:cNvPicPr>
            <a:picLocks noChangeAspect="1"/>
          </p:cNvPicPr>
          <p:nvPr/>
        </p:nvPicPr>
        <p:blipFill rotWithShape="1">
          <a:blip r:embed="rId7"/>
          <a:srcRect l="13445" t="27509" r="14286" b="12721"/>
          <a:stretch/>
        </p:blipFill>
        <p:spPr>
          <a:xfrm>
            <a:off x="6326909" y="3590637"/>
            <a:ext cx="5865091" cy="3275215"/>
          </a:xfrm>
          <a:prstGeom prst="rect">
            <a:avLst/>
          </a:prstGeom>
        </p:spPr>
      </p:pic>
      <p:pic>
        <p:nvPicPr>
          <p:cNvPr id="1028" name="Picture 4" descr="(3S,3aS,6S,6aR)-3,6-bis(1,3-benzodioxol-5-yl)-1,4,6,6a-tetrahydrofuro[3,4-c]furan-3,3a-diol">
            <a:extLst>
              <a:ext uri="{FF2B5EF4-FFF2-40B4-BE49-F238E27FC236}">
                <a16:creationId xmlns:a16="http://schemas.microsoft.com/office/drawing/2014/main" id="{4C7FF557-42AB-CCC6-A41C-9060E24F53A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01184" y="4305733"/>
            <a:ext cx="1725725" cy="178960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4D97A65-848D-4CF3-E597-502E5FEEED0F}"/>
              </a:ext>
            </a:extLst>
          </p:cNvPr>
          <p:cNvPicPr>
            <a:picLocks noChangeAspect="1"/>
          </p:cNvPicPr>
          <p:nvPr/>
        </p:nvPicPr>
        <p:blipFill>
          <a:blip r:embed="rId9"/>
          <a:stretch>
            <a:fillRect/>
          </a:stretch>
        </p:blipFill>
        <p:spPr>
          <a:xfrm>
            <a:off x="0" y="3623096"/>
            <a:ext cx="4601184" cy="3160089"/>
          </a:xfrm>
          <a:prstGeom prst="rect">
            <a:avLst/>
          </a:prstGeom>
        </p:spPr>
      </p:pic>
      <p:sp>
        <p:nvSpPr>
          <p:cNvPr id="6" name="TextBox 5">
            <a:extLst>
              <a:ext uri="{FF2B5EF4-FFF2-40B4-BE49-F238E27FC236}">
                <a16:creationId xmlns:a16="http://schemas.microsoft.com/office/drawing/2014/main" id="{6BF4EC4D-1F93-6689-03CC-37A49FEBF390}"/>
              </a:ext>
            </a:extLst>
          </p:cNvPr>
          <p:cNvSpPr txBox="1"/>
          <p:nvPr/>
        </p:nvSpPr>
        <p:spPr>
          <a:xfrm>
            <a:off x="4702629" y="5951769"/>
            <a:ext cx="1545771" cy="369332"/>
          </a:xfrm>
          <a:prstGeom prst="rect">
            <a:avLst/>
          </a:prstGeom>
          <a:noFill/>
        </p:spPr>
        <p:txBody>
          <a:bodyPr wrap="square">
            <a:spAutoFit/>
          </a:bodyPr>
          <a:lstStyle/>
          <a:p>
            <a:pPr lvl="0"/>
            <a:r>
              <a:rPr lang="en-US" sz="1800" b="1" dirty="0">
                <a:latin typeface="Times New Roman" panose="02020603050405020304" pitchFamily="18" charset="0"/>
                <a:cs typeface="Times New Roman" panose="02020603050405020304" pitchFamily="18" charset="0"/>
              </a:rPr>
              <a:t>ARBOREOL</a:t>
            </a:r>
            <a:endParaRPr lang="en-IN" dirty="0"/>
          </a:p>
        </p:txBody>
      </p:sp>
    </p:spTree>
    <p:extLst>
      <p:ext uri="{BB962C8B-B14F-4D97-AF65-F5344CB8AC3E}">
        <p14:creationId xmlns:p14="http://schemas.microsoft.com/office/powerpoint/2010/main" val="1727751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02E51D4-5ACA-23F6-60E5-42B9E37C9FDB}"/>
              </a:ext>
            </a:extLst>
          </p:cNvPr>
          <p:cNvSpPr txBox="1"/>
          <p:nvPr/>
        </p:nvSpPr>
        <p:spPr>
          <a:xfrm>
            <a:off x="426336" y="238602"/>
            <a:ext cx="7897532" cy="11592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kern="1200" dirty="0">
                <a:solidFill>
                  <a:srgbClr val="FFFFFF"/>
                </a:solidFill>
                <a:latin typeface="+mj-lt"/>
                <a:ea typeface="+mj-ea"/>
                <a:cs typeface="+mj-cs"/>
              </a:rPr>
              <a:t>Docking Results</a:t>
            </a:r>
          </a:p>
        </p:txBody>
      </p:sp>
      <p:pic>
        <p:nvPicPr>
          <p:cNvPr id="2" name="Picture 1"/>
          <p:cNvPicPr>
            <a:picLocks noChangeAspect="1"/>
          </p:cNvPicPr>
          <p:nvPr/>
        </p:nvPicPr>
        <p:blipFill rotWithShape="1">
          <a:blip r:embed="rId2"/>
          <a:srcRect l="26051"/>
          <a:stretch/>
        </p:blipFill>
        <p:spPr>
          <a:xfrm>
            <a:off x="7173389" y="1636404"/>
            <a:ext cx="4937033" cy="3972544"/>
          </a:xfrm>
          <a:prstGeom prst="rect">
            <a:avLst/>
          </a:prstGeom>
        </p:spPr>
      </p:pic>
      <p:pic>
        <p:nvPicPr>
          <p:cNvPr id="4" name="Picture 3">
            <a:extLst>
              <a:ext uri="{FF2B5EF4-FFF2-40B4-BE49-F238E27FC236}">
                <a16:creationId xmlns:a16="http://schemas.microsoft.com/office/drawing/2014/main" id="{0BD02C75-E441-36AE-9739-394F8AEC05E8}"/>
              </a:ext>
            </a:extLst>
          </p:cNvPr>
          <p:cNvPicPr>
            <a:picLocks noChangeAspect="1"/>
          </p:cNvPicPr>
          <p:nvPr/>
        </p:nvPicPr>
        <p:blipFill>
          <a:blip r:embed="rId3"/>
          <a:stretch>
            <a:fillRect/>
          </a:stretch>
        </p:blipFill>
        <p:spPr>
          <a:xfrm>
            <a:off x="301658" y="4085043"/>
            <a:ext cx="6872140" cy="2725853"/>
          </a:xfrm>
          <a:prstGeom prst="rect">
            <a:avLst/>
          </a:prstGeom>
        </p:spPr>
      </p:pic>
      <p:sp>
        <p:nvSpPr>
          <p:cNvPr id="6" name="TextBox 5">
            <a:extLst>
              <a:ext uri="{FF2B5EF4-FFF2-40B4-BE49-F238E27FC236}">
                <a16:creationId xmlns:a16="http://schemas.microsoft.com/office/drawing/2014/main" id="{F8BECEA1-758C-231B-FBA4-DD133D5F83B8}"/>
              </a:ext>
            </a:extLst>
          </p:cNvPr>
          <p:cNvSpPr txBox="1"/>
          <p:nvPr/>
        </p:nvSpPr>
        <p:spPr>
          <a:xfrm>
            <a:off x="8005714" y="5862337"/>
            <a:ext cx="3796645" cy="369332"/>
          </a:xfrm>
          <a:prstGeom prst="rect">
            <a:avLst/>
          </a:prstGeom>
          <a:noFill/>
        </p:spPr>
        <p:txBody>
          <a:bodyPr wrap="square">
            <a:spAutoFit/>
          </a:bodyPr>
          <a:lstStyle/>
          <a:p>
            <a:pPr>
              <a:lnSpc>
                <a:spcPct val="90000"/>
              </a:lnSpc>
              <a:spcBef>
                <a:spcPct val="0"/>
              </a:spcBef>
              <a:spcAft>
                <a:spcPts val="600"/>
              </a:spcAft>
            </a:pPr>
            <a:r>
              <a:rPr lang="en-US" sz="2000" b="1" i="1" kern="1200" dirty="0">
                <a:solidFill>
                  <a:srgbClr val="92D050"/>
                </a:solidFill>
                <a:latin typeface="+mj-lt"/>
                <a:ea typeface="+mj-ea"/>
                <a:cs typeface="+mj-cs"/>
              </a:rPr>
              <a:t>ADMET Properties of </a:t>
            </a:r>
            <a:r>
              <a:rPr lang="en-US" sz="2000" b="1" dirty="0" err="1">
                <a:solidFill>
                  <a:srgbClr val="92D050"/>
                </a:solidFill>
                <a:latin typeface="Times New Roman" panose="02020603050405020304" pitchFamily="18" charset="0"/>
                <a:cs typeface="Times New Roman" panose="02020603050405020304" pitchFamily="18" charset="0"/>
              </a:rPr>
              <a:t>Arboreol</a:t>
            </a:r>
            <a:endParaRPr lang="en-IN" sz="2000" dirty="0">
              <a:solidFill>
                <a:srgbClr val="92D050"/>
              </a:solidFill>
            </a:endParaRPr>
          </a:p>
        </p:txBody>
      </p:sp>
      <p:pic>
        <p:nvPicPr>
          <p:cNvPr id="7" name="Picture 6">
            <a:extLst>
              <a:ext uri="{FF2B5EF4-FFF2-40B4-BE49-F238E27FC236}">
                <a16:creationId xmlns:a16="http://schemas.microsoft.com/office/drawing/2014/main" id="{1A49577C-CBD5-8C78-CE16-50C6735CA92F}"/>
              </a:ext>
            </a:extLst>
          </p:cNvPr>
          <p:cNvPicPr>
            <a:picLocks noChangeAspect="1"/>
          </p:cNvPicPr>
          <p:nvPr/>
        </p:nvPicPr>
        <p:blipFill rotWithShape="1">
          <a:blip r:embed="rId4"/>
          <a:srcRect l="13775" t="35607" r="15481"/>
          <a:stretch/>
        </p:blipFill>
        <p:spPr>
          <a:xfrm>
            <a:off x="1138405" y="1617550"/>
            <a:ext cx="4743921" cy="2401535"/>
          </a:xfrm>
          <a:prstGeom prst="rect">
            <a:avLst/>
          </a:prstGeom>
        </p:spPr>
      </p:pic>
    </p:spTree>
    <p:extLst>
      <p:ext uri="{BB962C8B-B14F-4D97-AF65-F5344CB8AC3E}">
        <p14:creationId xmlns:p14="http://schemas.microsoft.com/office/powerpoint/2010/main" val="2354960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9" name="Rectangle 3088">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1" name="Rectangle 3090">
            <a:extLst>
              <a:ext uri="{FF2B5EF4-FFF2-40B4-BE49-F238E27FC236}">
                <a16:creationId xmlns:a16="http://schemas.microsoft.com/office/drawing/2014/main" id="{35D813D1-BA6B-40B4-A101-04BB89445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93" name="Picture 3092">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3095" name="Rectangle 3094">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12" name="Rectangle 3111">
            <a:extLst>
              <a:ext uri="{FF2B5EF4-FFF2-40B4-BE49-F238E27FC236}">
                <a16:creationId xmlns:a16="http://schemas.microsoft.com/office/drawing/2014/main" id="{AEA3DFA5-2D7B-4989-8ED7-8321EC114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678" y="0"/>
            <a:ext cx="11145980" cy="6870723"/>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0" name="TextBox 9">
            <a:extLst>
              <a:ext uri="{FF2B5EF4-FFF2-40B4-BE49-F238E27FC236}">
                <a16:creationId xmlns:a16="http://schemas.microsoft.com/office/drawing/2014/main" id="{7EDB0B3E-9311-7B5D-9DD7-30284E611EBB}"/>
              </a:ext>
            </a:extLst>
          </p:cNvPr>
          <p:cNvSpPr txBox="1"/>
          <p:nvPr/>
        </p:nvSpPr>
        <p:spPr>
          <a:xfrm>
            <a:off x="813853" y="496111"/>
            <a:ext cx="4254257" cy="229803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b="1" dirty="0">
                <a:latin typeface="Times New Roman" panose="02020603050405020304" pitchFamily="18" charset="0"/>
                <a:ea typeface="+mj-ea"/>
                <a:cs typeface="Times New Roman" panose="02020603050405020304" pitchFamily="18" charset="0"/>
              </a:rPr>
              <a:t>Molecular Dynamics and Simulations:</a:t>
            </a:r>
          </a:p>
          <a:p>
            <a:pPr>
              <a:lnSpc>
                <a:spcPct val="90000"/>
              </a:lnSpc>
              <a:spcBef>
                <a:spcPct val="0"/>
              </a:spcBef>
              <a:spcAft>
                <a:spcPts val="600"/>
              </a:spcAft>
            </a:pPr>
            <a:endParaRPr lang="en-US" sz="4100" u="sng" dirty="0">
              <a:latin typeface="+mj-lt"/>
              <a:ea typeface="+mj-ea"/>
              <a:cs typeface="+mj-cs"/>
            </a:endParaRPr>
          </a:p>
        </p:txBody>
      </p:sp>
      <p:sp>
        <p:nvSpPr>
          <p:cNvPr id="3" name="TextBox 2">
            <a:extLst>
              <a:ext uri="{FF2B5EF4-FFF2-40B4-BE49-F238E27FC236}">
                <a16:creationId xmlns:a16="http://schemas.microsoft.com/office/drawing/2014/main" id="{4D8F5C20-22AD-E227-4DC4-44A9D14D4677}"/>
              </a:ext>
            </a:extLst>
          </p:cNvPr>
          <p:cNvSpPr txBox="1"/>
          <p:nvPr/>
        </p:nvSpPr>
        <p:spPr>
          <a:xfrm>
            <a:off x="813853" y="2889114"/>
            <a:ext cx="4192031" cy="3162893"/>
          </a:xfrm>
          <a:prstGeom prst="rect">
            <a:avLst/>
          </a:prstGeom>
        </p:spPr>
        <p:txBody>
          <a:bodyPr vert="horz" lIns="91440" tIns="45720" rIns="91440" bIns="45720" rtlCol="0">
            <a:normAutofit fontScale="92500" lnSpcReduction="20000"/>
          </a:bodyPr>
          <a:lstStyle/>
          <a:p>
            <a:pPr indent="-228600">
              <a:lnSpc>
                <a:spcPct val="90000"/>
              </a:lnSpc>
              <a:spcAft>
                <a:spcPts val="600"/>
              </a:spcAft>
              <a:buFont typeface="Arial" panose="020B0604020202020204" pitchFamily="34" charset="0"/>
              <a:buChar char="•"/>
            </a:pPr>
            <a:endParaRPr lang="en-US" dirty="0"/>
          </a:p>
          <a:p>
            <a:pPr indent="-228600" algn="just">
              <a:lnSpc>
                <a:spcPct val="9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We Performed Simulations for docking analysis were conducted utilizing GROMACS, equilibrating the complex at a temperature of 300 Kelvin and a pressure of 1 Bar.</a:t>
            </a:r>
          </a:p>
          <a:p>
            <a:pPr indent="-228600" algn="just">
              <a:lnSpc>
                <a:spcPct val="9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obtained results include </a:t>
            </a:r>
            <a:r>
              <a:rPr lang="en-US" sz="2400" b="1" dirty="0">
                <a:latin typeface="Times New Roman" panose="02020603050405020304" pitchFamily="18" charset="0"/>
                <a:cs typeface="Times New Roman" panose="02020603050405020304" pitchFamily="18" charset="0"/>
              </a:rPr>
              <a:t>RMSD plots, hydrogen bonds, RMSF, Radius of Gyration and energy profiles</a:t>
            </a:r>
            <a:r>
              <a:rPr lang="en-US" sz="2400" dirty="0">
                <a:latin typeface="Times New Roman" panose="02020603050405020304" pitchFamily="18" charset="0"/>
                <a:cs typeface="Times New Roman" panose="02020603050405020304" pitchFamily="18" charset="0"/>
              </a:rPr>
              <a:t> for comprehensive analysis.</a:t>
            </a:r>
          </a:p>
          <a:p>
            <a:pPr indent="-228600">
              <a:lnSpc>
                <a:spcPct val="90000"/>
              </a:lnSpc>
              <a:spcAft>
                <a:spcPts val="600"/>
              </a:spcAft>
              <a:buFont typeface="Arial" panose="020B0604020202020204" pitchFamily="34" charset="0"/>
              <a:buChar char="•"/>
            </a:pPr>
            <a:endParaRPr lang="en-US" dirty="0"/>
          </a:p>
        </p:txBody>
      </p:sp>
      <p:pic>
        <p:nvPicPr>
          <p:cNvPr id="4" name="Picture 3" descr="A graph of a graph&#10;&#10;Description automatically generated">
            <a:extLst>
              <a:ext uri="{FF2B5EF4-FFF2-40B4-BE49-F238E27FC236}">
                <a16:creationId xmlns:a16="http://schemas.microsoft.com/office/drawing/2014/main" id="{B3EC3EFA-8440-B69C-40AE-B36152D1D067}"/>
              </a:ext>
            </a:extLst>
          </p:cNvPr>
          <p:cNvPicPr>
            <a:picLocks noChangeAspect="1"/>
          </p:cNvPicPr>
          <p:nvPr/>
        </p:nvPicPr>
        <p:blipFill>
          <a:blip r:embed="rId3"/>
          <a:stretch>
            <a:fillRect/>
          </a:stretch>
        </p:blipFill>
        <p:spPr>
          <a:xfrm>
            <a:off x="5477164" y="113022"/>
            <a:ext cx="6178158" cy="3600138"/>
          </a:xfrm>
          <a:prstGeom prst="rect">
            <a:avLst/>
          </a:prstGeom>
        </p:spPr>
      </p:pic>
      <p:pic>
        <p:nvPicPr>
          <p:cNvPr id="3084" name="Picture 12" descr="Advanced Molecular Dynamics Simulations | Neovarsity">
            <a:extLst>
              <a:ext uri="{FF2B5EF4-FFF2-40B4-BE49-F238E27FC236}">
                <a16:creationId xmlns:a16="http://schemas.microsoft.com/office/drawing/2014/main" id="{22FBED41-3D84-4D28-673E-01B69A1AE61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485641" y="4148703"/>
            <a:ext cx="4892506" cy="2568566"/>
          </a:xfrm>
          <a:prstGeom prst="rect">
            <a:avLst/>
          </a:prstGeom>
          <a:noFill/>
          <a:extLst>
            <a:ext uri="{909E8E84-426E-40DD-AFC4-6F175D3DCCD1}">
              <a14:hiddenFill xmlns:a14="http://schemas.microsoft.com/office/drawing/2010/main">
                <a:solidFill>
                  <a:srgbClr val="FFFFFF"/>
                </a:solidFill>
              </a14:hiddenFill>
            </a:ext>
          </a:extLst>
        </p:spPr>
      </p:pic>
      <p:sp>
        <p:nvSpPr>
          <p:cNvPr id="12" name="AutoShape 6">
            <a:extLst>
              <a:ext uri="{FF2B5EF4-FFF2-40B4-BE49-F238E27FC236}">
                <a16:creationId xmlns:a16="http://schemas.microsoft.com/office/drawing/2014/main" id="{31A45F79-3FDC-1CCA-A12A-3D6B39BC90A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811571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7F1AF47-AE98-4034-BD91-1976FA4D9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EC0EE2B-2029-48DD-893D-F528E651B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200" y="8482"/>
            <a:ext cx="3568276" cy="6858000"/>
          </a:xfrm>
          <a:prstGeom prst="rect">
            <a:avLst/>
          </a:prstGeom>
          <a:gradFill>
            <a:gsLst>
              <a:gs pos="0">
                <a:schemeClr val="accent1">
                  <a:alpha val="32000"/>
                </a:schemeClr>
              </a:gs>
              <a:gs pos="70000">
                <a:srgbClr val="000000">
                  <a:alpha val="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45AE1D08-1ED1-4F59-B42F-4D8EA33DC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Rectangle 28">
            <a:extLst>
              <a:ext uri="{FF2B5EF4-FFF2-40B4-BE49-F238E27FC236}">
                <a16:creationId xmlns:a16="http://schemas.microsoft.com/office/drawing/2014/main" id="{9A79B912-88EA-4640-BDEB-51B3B11A0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24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6944F0D-706D-4972-9728-9E54C889B209}"/>
              </a:ext>
            </a:extLst>
          </p:cNvPr>
          <p:cNvSpPr txBox="1"/>
          <p:nvPr/>
        </p:nvSpPr>
        <p:spPr>
          <a:xfrm>
            <a:off x="252920" y="2830749"/>
            <a:ext cx="3451064" cy="2939524"/>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000" b="1" dirty="0">
                <a:solidFill>
                  <a:srgbClr val="FFFFFF"/>
                </a:solidFill>
                <a:latin typeface="Times New Roman" panose="02020603050405020304" pitchFamily="18" charset="0"/>
                <a:ea typeface="+mj-ea"/>
                <a:cs typeface="Times New Roman" panose="02020603050405020304" pitchFamily="18" charset="0"/>
              </a:rPr>
              <a:t>Interactions in Simulations</a:t>
            </a:r>
          </a:p>
        </p:txBody>
      </p:sp>
      <p:pic>
        <p:nvPicPr>
          <p:cNvPr id="2" name="Picture 1">
            <a:extLst>
              <a:ext uri="{FF2B5EF4-FFF2-40B4-BE49-F238E27FC236}">
                <a16:creationId xmlns:a16="http://schemas.microsoft.com/office/drawing/2014/main" id="{4E3830FD-F187-E890-880E-D1700E157883}"/>
              </a:ext>
            </a:extLst>
          </p:cNvPr>
          <p:cNvPicPr>
            <a:picLocks noChangeAspect="1"/>
          </p:cNvPicPr>
          <p:nvPr/>
        </p:nvPicPr>
        <p:blipFill>
          <a:blip r:embed="rId2"/>
          <a:stretch>
            <a:fillRect/>
          </a:stretch>
        </p:blipFill>
        <p:spPr>
          <a:xfrm>
            <a:off x="4128453" y="50585"/>
            <a:ext cx="4180865" cy="3639714"/>
          </a:xfrm>
          <a:prstGeom prst="rect">
            <a:avLst/>
          </a:prstGeom>
        </p:spPr>
      </p:pic>
      <p:pic>
        <p:nvPicPr>
          <p:cNvPr id="3" name="Picture 2">
            <a:extLst>
              <a:ext uri="{FF2B5EF4-FFF2-40B4-BE49-F238E27FC236}">
                <a16:creationId xmlns:a16="http://schemas.microsoft.com/office/drawing/2014/main" id="{A5AADAD7-5E7C-4A57-52B9-008EAA13AD10}"/>
              </a:ext>
            </a:extLst>
          </p:cNvPr>
          <p:cNvPicPr>
            <a:picLocks noChangeAspect="1"/>
          </p:cNvPicPr>
          <p:nvPr/>
        </p:nvPicPr>
        <p:blipFill>
          <a:blip r:embed="rId3"/>
          <a:stretch>
            <a:fillRect/>
          </a:stretch>
        </p:blipFill>
        <p:spPr>
          <a:xfrm>
            <a:off x="8151260" y="8482"/>
            <a:ext cx="3898070" cy="3522270"/>
          </a:xfrm>
          <a:prstGeom prst="rect">
            <a:avLst/>
          </a:prstGeom>
        </p:spPr>
      </p:pic>
      <p:pic>
        <p:nvPicPr>
          <p:cNvPr id="4" name="Picture 3">
            <a:extLst>
              <a:ext uri="{FF2B5EF4-FFF2-40B4-BE49-F238E27FC236}">
                <a16:creationId xmlns:a16="http://schemas.microsoft.com/office/drawing/2014/main" id="{ACC11E9E-2D9B-3DD2-CE6E-6AE40E50BBAE}"/>
              </a:ext>
            </a:extLst>
          </p:cNvPr>
          <p:cNvPicPr>
            <a:picLocks noChangeAspect="1"/>
          </p:cNvPicPr>
          <p:nvPr/>
        </p:nvPicPr>
        <p:blipFill>
          <a:blip r:embed="rId4"/>
          <a:stretch>
            <a:fillRect/>
          </a:stretch>
        </p:blipFill>
        <p:spPr>
          <a:xfrm>
            <a:off x="4563944" y="3889174"/>
            <a:ext cx="7112423" cy="2571075"/>
          </a:xfrm>
          <a:prstGeom prst="rect">
            <a:avLst/>
          </a:prstGeom>
        </p:spPr>
      </p:pic>
    </p:spTree>
    <p:extLst>
      <p:ext uri="{BB962C8B-B14F-4D97-AF65-F5344CB8AC3E}">
        <p14:creationId xmlns:p14="http://schemas.microsoft.com/office/powerpoint/2010/main" val="2975038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Slide Background">
            <a:extLst>
              <a:ext uri="{FF2B5EF4-FFF2-40B4-BE49-F238E27FC236}">
                <a16:creationId xmlns:a16="http://schemas.microsoft.com/office/drawing/2014/main" id="{67A5186C-3438-4D83-A03D-BD8A5E2D48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Rectangle 33">
            <a:extLst>
              <a:ext uri="{FF2B5EF4-FFF2-40B4-BE49-F238E27FC236}">
                <a16:creationId xmlns:a16="http://schemas.microsoft.com/office/drawing/2014/main" id="{1540DFB4-867C-E2BB-EE93-8ED16E2711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0135883-B431-B579-DC8D-E243E5419383}"/>
              </a:ext>
            </a:extLst>
          </p:cNvPr>
          <p:cNvSpPr txBox="1"/>
          <p:nvPr/>
        </p:nvSpPr>
        <p:spPr>
          <a:xfrm>
            <a:off x="589558" y="262028"/>
            <a:ext cx="9021369" cy="119044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dirty="0">
                <a:latin typeface="Times New Roman" panose="02020603050405020304" pitchFamily="18" charset="0"/>
                <a:ea typeface="+mj-ea"/>
                <a:cs typeface="Times New Roman" panose="02020603050405020304" pitchFamily="18" charset="0"/>
              </a:rPr>
              <a:t> Molecular Dynamic Simulations results</a:t>
            </a:r>
          </a:p>
        </p:txBody>
      </p:sp>
      <p:pic>
        <p:nvPicPr>
          <p:cNvPr id="5" name="Picture 4" descr="A graph with a line graph&#10;&#10;Description automatically generated">
            <a:extLst>
              <a:ext uri="{FF2B5EF4-FFF2-40B4-BE49-F238E27FC236}">
                <a16:creationId xmlns:a16="http://schemas.microsoft.com/office/drawing/2014/main" id="{671E3DB7-0194-CCED-1256-337FCEA9C2B7}"/>
              </a:ext>
            </a:extLst>
          </p:cNvPr>
          <p:cNvPicPr>
            <a:picLocks noChangeAspect="1"/>
          </p:cNvPicPr>
          <p:nvPr/>
        </p:nvPicPr>
        <p:blipFill>
          <a:blip r:embed="rId2"/>
          <a:stretch>
            <a:fillRect/>
          </a:stretch>
        </p:blipFill>
        <p:spPr>
          <a:xfrm>
            <a:off x="309306" y="2130357"/>
            <a:ext cx="3756401" cy="3892621"/>
          </a:xfrm>
          <a:prstGeom prst="rect">
            <a:avLst/>
          </a:prstGeom>
        </p:spPr>
      </p:pic>
      <p:pic>
        <p:nvPicPr>
          <p:cNvPr id="10" name="Picture 9">
            <a:extLst>
              <a:ext uri="{FF2B5EF4-FFF2-40B4-BE49-F238E27FC236}">
                <a16:creationId xmlns:a16="http://schemas.microsoft.com/office/drawing/2014/main" id="{723C7B1D-BEA5-646C-B76C-9462A440FC1A}"/>
              </a:ext>
            </a:extLst>
          </p:cNvPr>
          <p:cNvPicPr>
            <a:picLocks noChangeAspect="1"/>
          </p:cNvPicPr>
          <p:nvPr/>
        </p:nvPicPr>
        <p:blipFill>
          <a:blip r:embed="rId3"/>
          <a:stretch>
            <a:fillRect/>
          </a:stretch>
        </p:blipFill>
        <p:spPr>
          <a:xfrm>
            <a:off x="4128146" y="2130357"/>
            <a:ext cx="3872365" cy="3892621"/>
          </a:xfrm>
          <a:prstGeom prst="rect">
            <a:avLst/>
          </a:prstGeom>
        </p:spPr>
      </p:pic>
      <p:pic>
        <p:nvPicPr>
          <p:cNvPr id="11" name="Picture 10">
            <a:extLst>
              <a:ext uri="{FF2B5EF4-FFF2-40B4-BE49-F238E27FC236}">
                <a16:creationId xmlns:a16="http://schemas.microsoft.com/office/drawing/2014/main" id="{27B0E5B3-10F4-06E8-D176-F92CB0A57933}"/>
              </a:ext>
            </a:extLst>
          </p:cNvPr>
          <p:cNvPicPr>
            <a:picLocks noChangeAspect="1"/>
          </p:cNvPicPr>
          <p:nvPr/>
        </p:nvPicPr>
        <p:blipFill>
          <a:blip r:embed="rId4"/>
          <a:stretch>
            <a:fillRect/>
          </a:stretch>
        </p:blipFill>
        <p:spPr>
          <a:xfrm>
            <a:off x="8062951" y="2130357"/>
            <a:ext cx="4129048" cy="3885737"/>
          </a:xfrm>
          <a:prstGeom prst="rect">
            <a:avLst/>
          </a:prstGeom>
          <a:effectLst/>
        </p:spPr>
      </p:pic>
    </p:spTree>
    <p:extLst>
      <p:ext uri="{BB962C8B-B14F-4D97-AF65-F5344CB8AC3E}">
        <p14:creationId xmlns:p14="http://schemas.microsoft.com/office/powerpoint/2010/main" val="1538662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761509-3B9A-49A6-A84B-C3D868116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91DE43FD-EB47-414A-B0AB-169B0FFFA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272922" cy="6858000"/>
          </a:xfrm>
          <a:custGeom>
            <a:avLst/>
            <a:gdLst>
              <a:gd name="connsiteX0" fmla="*/ 0 w 9272922"/>
              <a:gd name="connsiteY0" fmla="*/ 0 h 6858000"/>
              <a:gd name="connsiteX1" fmla="*/ 1733417 w 9272922"/>
              <a:gd name="connsiteY1" fmla="*/ 0 h 6858000"/>
              <a:gd name="connsiteX2" fmla="*/ 3307976 w 9272922"/>
              <a:gd name="connsiteY2" fmla="*/ 0 h 6858000"/>
              <a:gd name="connsiteX3" fmla="*/ 8126249 w 9272922"/>
              <a:gd name="connsiteY3" fmla="*/ 0 h 6858000"/>
              <a:gd name="connsiteX4" fmla="*/ 8138896 w 9272922"/>
              <a:gd name="connsiteY4" fmla="*/ 31774 h 6858000"/>
              <a:gd name="connsiteX5" fmla="*/ 9193904 w 9272922"/>
              <a:gd name="connsiteY5" fmla="*/ 2682457 h 6858000"/>
              <a:gd name="connsiteX6" fmla="*/ 9193904 w 9272922"/>
              <a:gd name="connsiteY6" fmla="*/ 3752208 h 6858000"/>
              <a:gd name="connsiteX7" fmla="*/ 8036400 w 9272922"/>
              <a:gd name="connsiteY7" fmla="*/ 6660411 h 6858000"/>
              <a:gd name="connsiteX8" fmla="*/ 7957938 w 9272922"/>
              <a:gd name="connsiteY8" fmla="*/ 6857542 h 6858000"/>
              <a:gd name="connsiteX9" fmla="*/ 3307976 w 9272922"/>
              <a:gd name="connsiteY9" fmla="*/ 6857542 h 6858000"/>
              <a:gd name="connsiteX10" fmla="*/ 3307976 w 9272922"/>
              <a:gd name="connsiteY10" fmla="*/ 6858000 h 6858000"/>
              <a:gd name="connsiteX11" fmla="*/ 0 w 9272922"/>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72922" h="6858000">
                <a:moveTo>
                  <a:pt x="0" y="0"/>
                </a:moveTo>
                <a:lnTo>
                  <a:pt x="1733417" y="0"/>
                </a:lnTo>
                <a:lnTo>
                  <a:pt x="3307976" y="0"/>
                </a:lnTo>
                <a:lnTo>
                  <a:pt x="8126249" y="0"/>
                </a:lnTo>
                <a:lnTo>
                  <a:pt x="8138896" y="31774"/>
                </a:lnTo>
                <a:cubicBezTo>
                  <a:pt x="9193904" y="2682457"/>
                  <a:pt x="9193904" y="2682457"/>
                  <a:pt x="9193904" y="2682457"/>
                </a:cubicBezTo>
                <a:cubicBezTo>
                  <a:pt x="9299262" y="2988100"/>
                  <a:pt x="9299262" y="3446565"/>
                  <a:pt x="9193904" y="3752208"/>
                </a:cubicBezTo>
                <a:cubicBezTo>
                  <a:pt x="8709916" y="4968215"/>
                  <a:pt x="8331802" y="5918220"/>
                  <a:pt x="8036400" y="6660411"/>
                </a:cubicBezTo>
                <a:lnTo>
                  <a:pt x="7957938" y="6857542"/>
                </a:lnTo>
                <a:lnTo>
                  <a:pt x="3307976" y="6857542"/>
                </a:lnTo>
                <a:lnTo>
                  <a:pt x="3307976"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0" name="Group 19">
            <a:extLst>
              <a:ext uri="{FF2B5EF4-FFF2-40B4-BE49-F238E27FC236}">
                <a16:creationId xmlns:a16="http://schemas.microsoft.com/office/drawing/2014/main" id="{58495BCC-CE77-4CC2-952E-846F41119F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160561" y="1075188"/>
            <a:ext cx="1562267" cy="1172973"/>
            <a:chOff x="9160561" y="1075188"/>
            <a:chExt cx="1562267" cy="1172973"/>
          </a:xfrm>
        </p:grpSpPr>
        <p:sp>
          <p:nvSpPr>
            <p:cNvPr id="21" name="Freeform 5">
              <a:extLst>
                <a:ext uri="{FF2B5EF4-FFF2-40B4-BE49-F238E27FC236}">
                  <a16:creationId xmlns:a16="http://schemas.microsoft.com/office/drawing/2014/main" id="{1B42538B-E30F-4967-A6C1-8EBA775F4D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60561" y="1423846"/>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22" name="Freeform 5">
              <a:extLst>
                <a:ext uri="{FF2B5EF4-FFF2-40B4-BE49-F238E27FC236}">
                  <a16:creationId xmlns:a16="http://schemas.microsoft.com/office/drawing/2014/main" id="{9A6BD9AC-4DE7-4B20-8547-4E3B375C2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60661" y="1075188"/>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pic>
        <p:nvPicPr>
          <p:cNvPr id="3" name="Picture 2">
            <a:extLst>
              <a:ext uri="{FF2B5EF4-FFF2-40B4-BE49-F238E27FC236}">
                <a16:creationId xmlns:a16="http://schemas.microsoft.com/office/drawing/2014/main" id="{DF62BF4B-E20C-157C-A2E4-4BF0A53C8E48}"/>
              </a:ext>
            </a:extLst>
          </p:cNvPr>
          <p:cNvPicPr>
            <a:picLocks noChangeAspect="1"/>
          </p:cNvPicPr>
          <p:nvPr/>
        </p:nvPicPr>
        <p:blipFill>
          <a:blip r:embed="rId2"/>
          <a:stretch>
            <a:fillRect/>
          </a:stretch>
        </p:blipFill>
        <p:spPr>
          <a:xfrm>
            <a:off x="5129428" y="2508283"/>
            <a:ext cx="3937897" cy="34516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TextBox 4">
            <a:extLst>
              <a:ext uri="{FF2B5EF4-FFF2-40B4-BE49-F238E27FC236}">
                <a16:creationId xmlns:a16="http://schemas.microsoft.com/office/drawing/2014/main" id="{E2FE7C5F-E48D-0BF7-DEAF-BBC84920FF18}"/>
              </a:ext>
            </a:extLst>
          </p:cNvPr>
          <p:cNvSpPr txBox="1"/>
          <p:nvPr/>
        </p:nvSpPr>
        <p:spPr>
          <a:xfrm>
            <a:off x="25006" y="1974756"/>
            <a:ext cx="5079418" cy="3847207"/>
          </a:xfrm>
          <a:prstGeom prst="rect">
            <a:avLst/>
          </a:prstGeom>
          <a:noFill/>
        </p:spPr>
        <p:txBody>
          <a:bodyPr wrap="square">
            <a:spAutoFit/>
          </a:bodyPr>
          <a:lstStyle/>
          <a:p>
            <a:pPr marL="168593" indent="-168593" algn="just" defTabSz="539496">
              <a:spcAft>
                <a:spcPts val="600"/>
              </a:spcAft>
              <a:buFont typeface="Wingdings" panose="05000000000000000000" pitchFamily="2" charset="2"/>
              <a:buChar char="Ø"/>
            </a:pPr>
            <a:r>
              <a:rPr lang="en-IN" kern="1200" dirty="0">
                <a:solidFill>
                  <a:schemeClr val="tx1"/>
                </a:solidFill>
                <a:latin typeface="Times New Roman" panose="02020603050405020304" pitchFamily="18" charset="0"/>
                <a:ea typeface="+mn-ea"/>
                <a:cs typeface="Times New Roman" panose="02020603050405020304" pitchFamily="18" charset="0"/>
              </a:rPr>
              <a:t>Following </a:t>
            </a:r>
            <a:r>
              <a:rPr lang="en-IN" dirty="0">
                <a:latin typeface="Times New Roman" panose="02020603050405020304" pitchFamily="18" charset="0"/>
                <a:cs typeface="Times New Roman" panose="02020603050405020304" pitchFamily="18" charset="0"/>
              </a:rPr>
              <a:t>Micro array</a:t>
            </a:r>
            <a:r>
              <a:rPr lang="en-IN" kern="1200" dirty="0">
                <a:solidFill>
                  <a:schemeClr val="tx1"/>
                </a:solidFill>
                <a:latin typeface="Times New Roman" panose="02020603050405020304" pitchFamily="18" charset="0"/>
                <a:ea typeface="+mn-ea"/>
                <a:cs typeface="Times New Roman" panose="02020603050405020304" pitchFamily="18" charset="0"/>
              </a:rPr>
              <a:t> analysis pinpointing genes implicated in Rett Syndrome, with a particular focus on MECP2, we conducted network analysis utilizing the </a:t>
            </a:r>
            <a:r>
              <a:rPr lang="en-IN" b="1" kern="1200" dirty="0">
                <a:solidFill>
                  <a:schemeClr val="tx1"/>
                </a:solidFill>
                <a:latin typeface="Times New Roman" panose="02020603050405020304" pitchFamily="18" charset="0"/>
                <a:ea typeface="+mn-ea"/>
                <a:cs typeface="Times New Roman" panose="02020603050405020304" pitchFamily="18" charset="0"/>
              </a:rPr>
              <a:t>STRING</a:t>
            </a:r>
            <a:r>
              <a:rPr lang="en-IN" kern="1200" dirty="0">
                <a:solidFill>
                  <a:schemeClr val="tx1"/>
                </a:solidFill>
                <a:latin typeface="Times New Roman" panose="02020603050405020304" pitchFamily="18" charset="0"/>
                <a:ea typeface="+mn-ea"/>
                <a:cs typeface="Times New Roman" panose="02020603050405020304" pitchFamily="18" charset="0"/>
              </a:rPr>
              <a:t> database. </a:t>
            </a:r>
          </a:p>
          <a:p>
            <a:pPr marL="168593" indent="-168593" algn="just" defTabSz="539496">
              <a:spcAft>
                <a:spcPts val="600"/>
              </a:spcAft>
              <a:buFont typeface="Wingdings" panose="05000000000000000000" pitchFamily="2" charset="2"/>
              <a:buChar char="Ø"/>
            </a:pPr>
            <a:r>
              <a:rPr lang="en-IN" kern="1200" dirty="0">
                <a:solidFill>
                  <a:schemeClr val="tx1"/>
                </a:solidFill>
                <a:latin typeface="Times New Roman" panose="02020603050405020304" pitchFamily="18" charset="0"/>
                <a:ea typeface="+mn-ea"/>
                <a:cs typeface="Times New Roman" panose="02020603050405020304" pitchFamily="18" charset="0"/>
              </a:rPr>
              <a:t>Subsequently, the dataset retrieved from </a:t>
            </a:r>
            <a:r>
              <a:rPr lang="en-IN" b="1" kern="1200" dirty="0">
                <a:solidFill>
                  <a:schemeClr val="tx1"/>
                </a:solidFill>
                <a:latin typeface="Times New Roman" panose="02020603050405020304" pitchFamily="18" charset="0"/>
                <a:ea typeface="+mn-ea"/>
                <a:cs typeface="Times New Roman" panose="02020603050405020304" pitchFamily="18" charset="0"/>
              </a:rPr>
              <a:t>STRING</a:t>
            </a:r>
            <a:r>
              <a:rPr lang="en-IN" kern="1200" dirty="0">
                <a:solidFill>
                  <a:schemeClr val="tx1"/>
                </a:solidFill>
                <a:latin typeface="Times New Roman" panose="02020603050405020304" pitchFamily="18" charset="0"/>
                <a:ea typeface="+mn-ea"/>
                <a:cs typeface="Times New Roman" panose="02020603050405020304" pitchFamily="18" charset="0"/>
              </a:rPr>
              <a:t> was employed to </a:t>
            </a:r>
            <a:r>
              <a:rPr lang="en-IN" b="1" kern="1200" dirty="0">
                <a:solidFill>
                  <a:schemeClr val="tx1"/>
                </a:solidFill>
                <a:latin typeface="Times New Roman" panose="02020603050405020304" pitchFamily="18" charset="0"/>
                <a:ea typeface="+mn-ea"/>
                <a:cs typeface="Times New Roman" panose="02020603050405020304" pitchFamily="18" charset="0"/>
              </a:rPr>
              <a:t>visualize the molecular interactions and functional associations </a:t>
            </a:r>
            <a:r>
              <a:rPr lang="en-IN" kern="1200" dirty="0">
                <a:solidFill>
                  <a:schemeClr val="tx1"/>
                </a:solidFill>
                <a:latin typeface="Times New Roman" panose="02020603050405020304" pitchFamily="18" charset="0"/>
                <a:ea typeface="+mn-ea"/>
                <a:cs typeface="Times New Roman" panose="02020603050405020304" pitchFamily="18" charset="0"/>
              </a:rPr>
              <a:t>among the identified </a:t>
            </a:r>
            <a:r>
              <a:rPr lang="en-IN" b="1" kern="1200" dirty="0">
                <a:solidFill>
                  <a:schemeClr val="tx1"/>
                </a:solidFill>
                <a:latin typeface="Times New Roman" panose="02020603050405020304" pitchFamily="18" charset="0"/>
                <a:ea typeface="+mn-ea"/>
                <a:cs typeface="Times New Roman" panose="02020603050405020304" pitchFamily="18" charset="0"/>
              </a:rPr>
              <a:t>Rett Syndrome-associated genes using </a:t>
            </a:r>
            <a:r>
              <a:rPr lang="en-IN" b="1" kern="1200" dirty="0" err="1">
                <a:solidFill>
                  <a:schemeClr val="tx1"/>
                </a:solidFill>
                <a:latin typeface="Times New Roman" panose="02020603050405020304" pitchFamily="18" charset="0"/>
                <a:ea typeface="+mn-ea"/>
                <a:cs typeface="Times New Roman" panose="02020603050405020304" pitchFamily="18" charset="0"/>
              </a:rPr>
              <a:t>Cytoscape</a:t>
            </a:r>
            <a:r>
              <a:rPr lang="en-IN" kern="1200" dirty="0">
                <a:solidFill>
                  <a:schemeClr val="tx1"/>
                </a:solidFill>
                <a:latin typeface="Times New Roman" panose="02020603050405020304" pitchFamily="18" charset="0"/>
                <a:ea typeface="+mn-ea"/>
                <a:cs typeface="Times New Roman" panose="02020603050405020304" pitchFamily="18" charset="0"/>
              </a:rPr>
              <a:t>, a powerful visualization tool.</a:t>
            </a:r>
          </a:p>
          <a:p>
            <a:pPr marL="168593" indent="-168593" algn="just" defTabSz="539496">
              <a:spcAft>
                <a:spcPts val="600"/>
              </a:spcAft>
              <a:buFont typeface="Wingdings" panose="05000000000000000000" pitchFamily="2" charset="2"/>
              <a:buChar char="Ø"/>
            </a:pPr>
            <a:r>
              <a:rPr lang="en-IN" kern="1200" dirty="0">
                <a:solidFill>
                  <a:schemeClr val="tx1"/>
                </a:solidFill>
                <a:latin typeface="Times New Roman" panose="02020603050405020304" pitchFamily="18" charset="0"/>
                <a:ea typeface="+mn-ea"/>
                <a:cs typeface="Times New Roman" panose="02020603050405020304" pitchFamily="18" charset="0"/>
              </a:rPr>
              <a:t> Through network analysis within </a:t>
            </a:r>
            <a:r>
              <a:rPr lang="en-IN" kern="1200" dirty="0" err="1">
                <a:solidFill>
                  <a:schemeClr val="tx1"/>
                </a:solidFill>
                <a:latin typeface="Times New Roman" panose="02020603050405020304" pitchFamily="18" charset="0"/>
                <a:ea typeface="+mn-ea"/>
                <a:cs typeface="Times New Roman" panose="02020603050405020304" pitchFamily="18" charset="0"/>
              </a:rPr>
              <a:t>Cytoscape</a:t>
            </a:r>
            <a:r>
              <a:rPr lang="en-IN" dirty="0">
                <a:latin typeface="Times New Roman" panose="02020603050405020304" pitchFamily="18" charset="0"/>
                <a:cs typeface="Times New Roman" panose="02020603050405020304" pitchFamily="18" charset="0"/>
              </a:rPr>
              <a:t> </a:t>
            </a:r>
            <a:r>
              <a:rPr lang="en-IN" kern="1200" dirty="0">
                <a:solidFill>
                  <a:schemeClr val="tx1"/>
                </a:solidFill>
                <a:latin typeface="Times New Roman" panose="02020603050405020304" pitchFamily="18" charset="0"/>
                <a:ea typeface="+mn-ea"/>
                <a:cs typeface="Times New Roman" panose="02020603050405020304" pitchFamily="18" charset="0"/>
              </a:rPr>
              <a:t>, genes with the highest degree and stress were identified, shedding light on their pivotal roles within the Rett Syndrome-associated gene network. </a:t>
            </a:r>
          </a:p>
        </p:txBody>
      </p:sp>
      <p:sp>
        <p:nvSpPr>
          <p:cNvPr id="7" name="TextBox 6">
            <a:extLst>
              <a:ext uri="{FF2B5EF4-FFF2-40B4-BE49-F238E27FC236}">
                <a16:creationId xmlns:a16="http://schemas.microsoft.com/office/drawing/2014/main" id="{0DD8F5FE-0215-4A75-7C48-0C41068BADF9}"/>
              </a:ext>
            </a:extLst>
          </p:cNvPr>
          <p:cNvSpPr txBox="1"/>
          <p:nvPr/>
        </p:nvSpPr>
        <p:spPr>
          <a:xfrm>
            <a:off x="3491345" y="6073218"/>
            <a:ext cx="4701405" cy="400110"/>
          </a:xfrm>
          <a:prstGeom prst="rect">
            <a:avLst/>
          </a:prstGeom>
          <a:noFill/>
        </p:spPr>
        <p:txBody>
          <a:bodyPr wrap="square" rtlCol="0">
            <a:spAutoFit/>
          </a:bodyPr>
          <a:lstStyle/>
          <a:p>
            <a:pPr defTabSz="539496">
              <a:spcAft>
                <a:spcPts val="600"/>
              </a:spcAft>
            </a:pPr>
            <a:r>
              <a:rPr lang="en-US" sz="2000" b="1" kern="1200" dirty="0">
                <a:latin typeface="Times New Roman" panose="02020603050405020304" pitchFamily="18" charset="0"/>
                <a:ea typeface="+mn-ea"/>
                <a:cs typeface="Times New Roman" panose="02020603050405020304" pitchFamily="18" charset="0"/>
              </a:rPr>
              <a:t>Illustration of network from </a:t>
            </a:r>
            <a:r>
              <a:rPr lang="en-US" sz="2000" b="1" kern="1200" dirty="0" err="1">
                <a:latin typeface="Times New Roman" panose="02020603050405020304" pitchFamily="18" charset="0"/>
                <a:ea typeface="+mn-ea"/>
                <a:cs typeface="Times New Roman" panose="02020603050405020304" pitchFamily="18" charset="0"/>
              </a:rPr>
              <a:t>Cystoscape</a:t>
            </a:r>
            <a:endParaRPr lang="en-IN" sz="36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7CE0EBA-A0AD-AB2C-68E0-868274AB9FA1}"/>
              </a:ext>
            </a:extLst>
          </p:cNvPr>
          <p:cNvSpPr txBox="1"/>
          <p:nvPr/>
        </p:nvSpPr>
        <p:spPr>
          <a:xfrm>
            <a:off x="333339" y="784782"/>
            <a:ext cx="5882309" cy="938719"/>
          </a:xfrm>
          <a:prstGeom prst="rect">
            <a:avLst/>
          </a:prstGeom>
          <a:noFill/>
        </p:spPr>
        <p:txBody>
          <a:bodyPr wrap="square" rtlCol="0">
            <a:spAutoFit/>
          </a:bodyPr>
          <a:lstStyle/>
          <a:p>
            <a:pPr marL="0" marR="0" lvl="0" indent="0" algn="l" defTabSz="539496" rtl="0" eaLnBrk="1" fontAlgn="auto" latinLnBrk="0" hangingPunct="1">
              <a:lnSpc>
                <a:spcPct val="100000"/>
              </a:lnSpc>
              <a:spcBef>
                <a:spcPts val="0"/>
              </a:spcBef>
              <a:spcAft>
                <a:spcPts val="600"/>
              </a:spcAft>
              <a:buClrTx/>
              <a:buSzTx/>
              <a:buFontTx/>
              <a:buNone/>
              <a:tabLst/>
              <a:defRPr/>
            </a:pPr>
            <a:r>
              <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Network analysis for </a:t>
            </a:r>
            <a:r>
              <a:rPr lang="en-IN" sz="3200" b="1" dirty="0">
                <a:solidFill>
                  <a:prstClr val="black"/>
                </a:solidFill>
                <a:latin typeface="Times New Roman" panose="02020603050405020304" pitchFamily="18" charset="0"/>
                <a:cs typeface="Times New Roman" panose="02020603050405020304" pitchFamily="18" charset="0"/>
              </a:rPr>
              <a:t>CTCF</a:t>
            </a:r>
            <a:endParaRPr kumimoji="0" lang="en-IN"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endParaRPr lang="en-IN" dirty="0"/>
          </a:p>
        </p:txBody>
      </p:sp>
    </p:spTree>
    <p:extLst>
      <p:ext uri="{BB962C8B-B14F-4D97-AF65-F5344CB8AC3E}">
        <p14:creationId xmlns:p14="http://schemas.microsoft.com/office/powerpoint/2010/main" val="1796041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55FFE39-3F44-B95C-7C01-CD3A67FA50E1}"/>
              </a:ext>
            </a:extLst>
          </p:cNvPr>
          <p:cNvPicPr>
            <a:picLocks noChangeAspect="1"/>
          </p:cNvPicPr>
          <p:nvPr/>
        </p:nvPicPr>
        <p:blipFill rotWithShape="1">
          <a:blip r:embed="rId2"/>
          <a:srcRect l="9831" r="27397" b="-1"/>
          <a:stretch/>
        </p:blipFill>
        <p:spPr>
          <a:xfrm>
            <a:off x="20" y="10"/>
            <a:ext cx="7529189" cy="6857990"/>
          </a:xfrm>
          <a:prstGeom prst="rect">
            <a:avLst/>
          </a:prstGeom>
          <a:solidFill>
            <a:srgbClr val="FFFFFF">
              <a:shade val="85000"/>
            </a:srgbClr>
          </a:solidFill>
        </p:spPr>
      </p:pic>
      <p:sp>
        <p:nvSpPr>
          <p:cNvPr id="21" name="Rectangle 20">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5" name="Rectangle 24">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TextBox 2">
            <a:extLst>
              <a:ext uri="{FF2B5EF4-FFF2-40B4-BE49-F238E27FC236}">
                <a16:creationId xmlns:a16="http://schemas.microsoft.com/office/drawing/2014/main" id="{B4893099-C2BC-BE1C-9F8F-FB2C0FDDA6BC}"/>
              </a:ext>
            </a:extLst>
          </p:cNvPr>
          <p:cNvSpPr txBox="1"/>
          <p:nvPr/>
        </p:nvSpPr>
        <p:spPr>
          <a:xfrm>
            <a:off x="7529209" y="1789890"/>
            <a:ext cx="4461636" cy="4113597"/>
          </a:xfrm>
          <a:prstGeom prst="rect">
            <a:avLst/>
          </a:prstGeom>
        </p:spPr>
        <p:txBody>
          <a:bodyPr vert="horz" lIns="91440" tIns="45720" rIns="91440" bIns="45720" rtlCol="0" anchor="t">
            <a:normAutofit/>
          </a:bodyPr>
          <a:lstStyle/>
          <a:p>
            <a:pPr marL="168593" indent="-228600" algn="just">
              <a:lnSpc>
                <a:spcPct val="90000"/>
              </a:lnSpc>
              <a:spcAft>
                <a:spcPts val="6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high-degree and high-stress genes hold significant biological relevance, potentially serving as </a:t>
            </a:r>
            <a:r>
              <a:rPr lang="en-US" sz="2000" b="1" dirty="0">
                <a:latin typeface="Times New Roman" panose="02020603050405020304" pitchFamily="18" charset="0"/>
                <a:cs typeface="Times New Roman" panose="02020603050405020304" pitchFamily="18" charset="0"/>
              </a:rPr>
              <a:t>key regulators or effectors in Rett Syndrome pathology. </a:t>
            </a:r>
          </a:p>
          <a:p>
            <a:pPr marL="168593" indent="-228600" algn="just">
              <a:lnSpc>
                <a:spcPct val="90000"/>
              </a:lnSpc>
              <a:spcAft>
                <a:spcPts val="6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Detailed investigation into these genes provides valuable insights into the underlying molecular mechanisms of Rett Syndrome and unveils potential targets for therapeutic intervention,  thus advancing our understanding and treatment strategies for this neurodevelopmental disorder.</a:t>
            </a:r>
          </a:p>
        </p:txBody>
      </p:sp>
    </p:spTree>
    <p:extLst>
      <p:ext uri="{BB962C8B-B14F-4D97-AF65-F5344CB8AC3E}">
        <p14:creationId xmlns:p14="http://schemas.microsoft.com/office/powerpoint/2010/main" val="2211975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Molecular DNA structure">
            <a:extLst>
              <a:ext uri="{FF2B5EF4-FFF2-40B4-BE49-F238E27FC236}">
                <a16:creationId xmlns:a16="http://schemas.microsoft.com/office/drawing/2014/main" id="{AD4BD98C-CC11-E62D-218F-0096D4BDC418}"/>
              </a:ext>
            </a:extLst>
          </p:cNvPr>
          <p:cNvPicPr>
            <a:picLocks noChangeAspect="1"/>
          </p:cNvPicPr>
          <p:nvPr/>
        </p:nvPicPr>
        <p:blipFill rotWithShape="1">
          <a:blip r:embed="rId2"/>
          <a:srcRect r="5882" b="-1"/>
          <a:stretch/>
        </p:blipFill>
        <p:spPr>
          <a:xfrm>
            <a:off x="23109" y="10"/>
            <a:ext cx="8631481" cy="6857990"/>
          </a:xfrm>
          <a:prstGeom prst="rect">
            <a:avLst/>
          </a:prstGeom>
        </p:spPr>
      </p:pic>
      <p:sp>
        <p:nvSpPr>
          <p:cNvPr id="52" name="Rectangle 5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2A8388B0-CE94-21A5-24FD-77726E835E93}"/>
              </a:ext>
            </a:extLst>
          </p:cNvPr>
          <p:cNvSpPr txBox="1"/>
          <p:nvPr/>
        </p:nvSpPr>
        <p:spPr>
          <a:xfrm>
            <a:off x="8017560" y="183817"/>
            <a:ext cx="2919918" cy="84707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dirty="0" err="1">
                <a:latin typeface="Times New Roman" panose="02020603050405020304" pitchFamily="18" charset="0"/>
                <a:ea typeface="+mj-ea"/>
                <a:cs typeface="Times New Roman" panose="02020603050405020304" pitchFamily="18" charset="0"/>
              </a:rPr>
              <a:t>Cont</a:t>
            </a:r>
            <a:r>
              <a:rPr lang="en-US" sz="4000" b="1" dirty="0">
                <a:latin typeface="Times New Roman" panose="02020603050405020304" pitchFamily="18" charset="0"/>
                <a:ea typeface="+mj-ea"/>
                <a:cs typeface="Times New Roman" panose="02020603050405020304" pitchFamily="18" charset="0"/>
              </a:rPr>
              <a:t>…</a:t>
            </a:r>
          </a:p>
        </p:txBody>
      </p:sp>
      <p:sp>
        <p:nvSpPr>
          <p:cNvPr id="34" name="TextBox 33">
            <a:extLst>
              <a:ext uri="{FF2B5EF4-FFF2-40B4-BE49-F238E27FC236}">
                <a16:creationId xmlns:a16="http://schemas.microsoft.com/office/drawing/2014/main" id="{3F0DFD38-A5A6-CED3-4FE9-D6A5EA6E2B15}"/>
              </a:ext>
            </a:extLst>
          </p:cNvPr>
          <p:cNvSpPr txBox="1"/>
          <p:nvPr/>
        </p:nvSpPr>
        <p:spPr>
          <a:xfrm>
            <a:off x="6918036" y="1002284"/>
            <a:ext cx="5144263" cy="5493812"/>
          </a:xfrm>
          <a:prstGeom prst="rect">
            <a:avLst/>
          </a:prstGeom>
          <a:noFill/>
        </p:spPr>
        <p:txBody>
          <a:bodyPr wrap="square">
            <a:spAutoFit/>
          </a:bodyPr>
          <a:lstStyle/>
          <a:p>
            <a:pPr marL="342900" indent="-342900" algn="just">
              <a:buFont typeface="Wingdings" panose="05000000000000000000" pitchFamily="2" charset="2"/>
              <a:buChar char="§"/>
            </a:pPr>
            <a:endParaRPr lang="en-IN" sz="15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Gene Selection: </a:t>
            </a:r>
            <a:r>
              <a:rPr lang="en-IN" sz="1600" dirty="0">
                <a:latin typeface="Times New Roman" panose="02020603050405020304" pitchFamily="18" charset="0"/>
                <a:cs typeface="Times New Roman" panose="02020603050405020304" pitchFamily="18" charset="0"/>
              </a:rPr>
              <a:t>Two genes, TYROBP and CSF1R, were chosen for analysis due to their relevance to Rett Syndrome based on their stress and degree values.</a:t>
            </a:r>
          </a:p>
          <a:p>
            <a:pPr marL="342900" indent="-342900" algn="just">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Database Search: </a:t>
            </a:r>
            <a:r>
              <a:rPr lang="en-IN" sz="1600" dirty="0">
                <a:latin typeface="Times New Roman" panose="02020603050405020304" pitchFamily="18" charset="0"/>
                <a:cs typeface="Times New Roman" panose="02020603050405020304" pitchFamily="18" charset="0"/>
              </a:rPr>
              <a:t>A search was conducted on </a:t>
            </a:r>
            <a:r>
              <a:rPr lang="en-IN" sz="1600" dirty="0" err="1">
                <a:latin typeface="Times New Roman" panose="02020603050405020304" pitchFamily="18" charset="0"/>
                <a:cs typeface="Times New Roman" panose="02020603050405020304" pitchFamily="18" charset="0"/>
              </a:rPr>
              <a:t>DGIdb</a:t>
            </a:r>
            <a:r>
              <a:rPr lang="en-IN" sz="1600" dirty="0">
                <a:latin typeface="Times New Roman" panose="02020603050405020304" pitchFamily="18" charset="0"/>
                <a:cs typeface="Times New Roman" panose="02020603050405020304" pitchFamily="18" charset="0"/>
              </a:rPr>
              <a:t> website to identify molecules associated with TYROBP and CSF1R. Results showed 18 molecules for TYROBP and 50 molecules for CSF1R.</a:t>
            </a:r>
          </a:p>
          <a:p>
            <a:pPr marL="342900" indent="-342900" algn="just">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PubChem Analysis: </a:t>
            </a:r>
            <a:r>
              <a:rPr lang="en-IN" sz="1600" dirty="0">
                <a:latin typeface="Times New Roman" panose="02020603050405020304" pitchFamily="18" charset="0"/>
                <a:cs typeface="Times New Roman" panose="02020603050405020304" pitchFamily="18" charset="0"/>
              </a:rPr>
              <a:t>Molecules associated with TYROBP and CSF1R were </a:t>
            </a:r>
            <a:r>
              <a:rPr lang="en-IN" sz="1600" dirty="0" err="1">
                <a:latin typeface="Times New Roman" panose="02020603050405020304" pitchFamily="18" charset="0"/>
                <a:cs typeface="Times New Roman" panose="02020603050405020304" pitchFamily="18" charset="0"/>
              </a:rPr>
              <a:t>analyzed</a:t>
            </a:r>
            <a:r>
              <a:rPr lang="en-IN" sz="1600" dirty="0">
                <a:latin typeface="Times New Roman" panose="02020603050405020304" pitchFamily="18" charset="0"/>
                <a:cs typeface="Times New Roman" panose="02020603050405020304" pitchFamily="18" charset="0"/>
              </a:rPr>
              <a:t> using PubChem database to assess their properties and activity.</a:t>
            </a:r>
          </a:p>
          <a:p>
            <a:pPr marL="342900" indent="-342900" algn="just">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Drug Bank Exploration: </a:t>
            </a:r>
            <a:r>
              <a:rPr lang="en-IN" sz="1600" dirty="0">
                <a:latin typeface="Times New Roman" panose="02020603050405020304" pitchFamily="18" charset="0"/>
                <a:cs typeface="Times New Roman" panose="02020603050405020304" pitchFamily="18" charset="0"/>
              </a:rPr>
              <a:t>Molecules showing potential activity were further investigated using Drug Bank database to evaluate their protein binding properties and pharmacological activities.</a:t>
            </a:r>
          </a:p>
          <a:p>
            <a:pPr marL="342900" indent="-342900" algn="just">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Identification of Potential Drugs: </a:t>
            </a:r>
            <a:r>
              <a:rPr lang="en-IN" sz="1600" dirty="0">
                <a:latin typeface="Times New Roman" panose="02020603050405020304" pitchFamily="18" charset="0"/>
                <a:cs typeface="Times New Roman" panose="02020603050405020304" pitchFamily="18" charset="0"/>
              </a:rPr>
              <a:t>Eight drug molecules were identified as having promising activity based on their properties and interactions.</a:t>
            </a:r>
          </a:p>
          <a:p>
            <a:pPr marL="342900" indent="-342900" algn="just">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3D QSAR Analysis: </a:t>
            </a:r>
            <a:r>
              <a:rPr lang="en-IN" sz="1600" dirty="0">
                <a:latin typeface="Times New Roman" panose="02020603050405020304" pitchFamily="18" charset="0"/>
                <a:cs typeface="Times New Roman" panose="02020603050405020304" pitchFamily="18" charset="0"/>
              </a:rPr>
              <a:t>The identified drug molecules underwent 3D QSAR (Quantitative Structure-Activity Relationship) analysis to assess their potential efficacy in reducing Rett Syndrome symptoms.</a:t>
            </a:r>
          </a:p>
        </p:txBody>
      </p:sp>
    </p:spTree>
    <p:extLst>
      <p:ext uri="{BB962C8B-B14F-4D97-AF65-F5344CB8AC3E}">
        <p14:creationId xmlns:p14="http://schemas.microsoft.com/office/powerpoint/2010/main" val="3396490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EFD01D0-319B-5CDB-F1AF-B4A061EAE52F}"/>
              </a:ext>
            </a:extLst>
          </p:cNvPr>
          <p:cNvSpPr txBox="1"/>
          <p:nvPr/>
        </p:nvSpPr>
        <p:spPr>
          <a:xfrm>
            <a:off x="793662" y="386930"/>
            <a:ext cx="10066122" cy="129844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1" kern="1200" dirty="0">
                <a:solidFill>
                  <a:schemeClr val="tx1"/>
                </a:solidFill>
                <a:latin typeface="Times New Roman" panose="02020603050405020304" pitchFamily="18" charset="0"/>
                <a:ea typeface="+mj-ea"/>
                <a:cs typeface="Times New Roman" panose="02020603050405020304" pitchFamily="18" charset="0"/>
              </a:rPr>
              <a:t>3D-QSAR</a:t>
            </a:r>
          </a:p>
        </p:txBody>
      </p:sp>
      <p:sp>
        <p:nvSpPr>
          <p:cNvPr id="44" name="Rectangle 4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E3E46326-A572-A3F2-F7A4-D2682C4E7E43}"/>
              </a:ext>
            </a:extLst>
          </p:cNvPr>
          <p:cNvPicPr>
            <a:picLocks noChangeAspect="1"/>
          </p:cNvPicPr>
          <p:nvPr/>
        </p:nvPicPr>
        <p:blipFill rotWithShape="1">
          <a:blip r:embed="rId2"/>
          <a:srcRect l="6609" t="6564" r="35365" b="9106"/>
          <a:stretch/>
        </p:blipFill>
        <p:spPr>
          <a:xfrm>
            <a:off x="7214190" y="2665379"/>
            <a:ext cx="3831591" cy="31323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8" name="Rectangle 4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9CBF41C-9494-4E54-1111-812EB4004184}"/>
              </a:ext>
            </a:extLst>
          </p:cNvPr>
          <p:cNvSpPr txBox="1"/>
          <p:nvPr/>
        </p:nvSpPr>
        <p:spPr>
          <a:xfrm>
            <a:off x="233464" y="2203079"/>
            <a:ext cx="6741268" cy="4210047"/>
          </a:xfrm>
          <a:prstGeom prst="rect">
            <a:avLst/>
          </a:prstGeom>
          <a:noFill/>
        </p:spPr>
        <p:txBody>
          <a:bodyPr wrap="square">
            <a:spAutoFit/>
          </a:bodyPr>
          <a:lstStyle/>
          <a:p>
            <a:pPr marL="285750" indent="-285750" algn="just">
              <a:buFont typeface="Wingdings" panose="05000000000000000000" pitchFamily="2" charset="2"/>
              <a:buChar char="Ø"/>
            </a:pPr>
            <a:r>
              <a:rPr lang="en-IN" sz="1500" dirty="0">
                <a:latin typeface="Times New Roman" panose="02020603050405020304" pitchFamily="18" charset="0"/>
                <a:cs typeface="Times New Roman" panose="02020603050405020304" pitchFamily="18" charset="0"/>
              </a:rPr>
              <a:t>Building 3D-QSAR using Open3DAlign for initial alignment of a dataset, followed by </a:t>
            </a:r>
            <a:r>
              <a:rPr lang="en-IN" sz="1500" b="1" dirty="0">
                <a:latin typeface="Times New Roman" panose="02020603050405020304" pitchFamily="18" charset="0"/>
                <a:cs typeface="Times New Roman" panose="02020603050405020304" pitchFamily="18" charset="0"/>
              </a:rPr>
              <a:t>Open3D-QSAR</a:t>
            </a:r>
            <a:r>
              <a:rPr lang="en-IN" sz="1500" dirty="0">
                <a:latin typeface="Times New Roman" panose="02020603050405020304" pitchFamily="18" charset="0"/>
                <a:cs typeface="Times New Roman" panose="02020603050405020304" pitchFamily="18" charset="0"/>
              </a:rPr>
              <a:t> for </a:t>
            </a:r>
            <a:r>
              <a:rPr lang="en-IN" sz="1500" b="1" dirty="0">
                <a:latin typeface="Times New Roman" panose="02020603050405020304" pitchFamily="18" charset="0"/>
                <a:cs typeface="Times New Roman" panose="02020603050405020304" pitchFamily="18" charset="0"/>
              </a:rPr>
              <a:t>quantitative structure-activity relationship (QSAR) analysis.</a:t>
            </a:r>
            <a:r>
              <a:rPr lang="en-IN" sz="1500" dirty="0">
                <a:latin typeface="Times New Roman" panose="02020603050405020304" pitchFamily="18" charset="0"/>
                <a:cs typeface="Times New Roman" panose="02020603050405020304" pitchFamily="18" charset="0"/>
              </a:rPr>
              <a:t> In Open3DAlign, the dataset is imported, visualized, and optionally scrambled or realigned. </a:t>
            </a:r>
          </a:p>
          <a:p>
            <a:pPr marL="285750" indent="-285750" algn="just">
              <a:buFont typeface="Wingdings" panose="05000000000000000000" pitchFamily="2" charset="2"/>
              <a:buChar char="Ø"/>
            </a:pPr>
            <a:r>
              <a:rPr lang="en-IN" sz="1500" dirty="0">
                <a:latin typeface="Times New Roman" panose="02020603050405020304" pitchFamily="18" charset="0"/>
                <a:cs typeface="Times New Roman" panose="02020603050405020304" pitchFamily="18" charset="0"/>
              </a:rPr>
              <a:t>Alignment scores are computed to identify the best alignment, which is then visualized. </a:t>
            </a:r>
          </a:p>
          <a:p>
            <a:pPr marL="285750" indent="-285750" algn="just">
              <a:buFont typeface="Wingdings" panose="05000000000000000000" pitchFamily="2" charset="2"/>
              <a:buChar char="Ø"/>
            </a:pPr>
            <a:r>
              <a:rPr lang="en-IN" sz="1500" dirty="0">
                <a:latin typeface="Times New Roman" panose="02020603050405020304" pitchFamily="18" charset="0"/>
                <a:cs typeface="Times New Roman" panose="02020603050405020304" pitchFamily="18" charset="0"/>
              </a:rPr>
              <a:t>In Open3DQSAR, the aligned dataset is imported, activities are added, and molecules without activity data are removed. A grid box is set around the molecules, and Van der Waals and electrostatic Molecular Interaction Fields (MIFs) are computed. Sterically prohibited areas are excluded from electrostatic potential (ESP) calculations, and cutoffs are set.</a:t>
            </a:r>
          </a:p>
          <a:p>
            <a:pPr marL="285750" indent="-285750" algn="just">
              <a:buFont typeface="Wingdings" panose="05000000000000000000" pitchFamily="2" charset="2"/>
              <a:buChar char="Ø"/>
            </a:pPr>
            <a:r>
              <a:rPr lang="en-IN" sz="1500" dirty="0">
                <a:latin typeface="Times New Roman" panose="02020603050405020304" pitchFamily="18" charset="0"/>
                <a:cs typeface="Times New Roman" panose="02020603050405020304" pitchFamily="18" charset="0"/>
              </a:rPr>
              <a:t> The dataset is split into training and test sets, and variable identification and elimination are performed. </a:t>
            </a:r>
            <a:r>
              <a:rPr lang="en-IN" sz="1500" b="1" dirty="0">
                <a:latin typeface="Times New Roman" panose="02020603050405020304" pitchFamily="18" charset="0"/>
                <a:cs typeface="Times New Roman" panose="02020603050405020304" pitchFamily="18" charset="0"/>
              </a:rPr>
              <a:t>Block Unscaled Weighting (BUW) </a:t>
            </a:r>
            <a:r>
              <a:rPr lang="en-IN" sz="1500" dirty="0">
                <a:latin typeface="Times New Roman" panose="02020603050405020304" pitchFamily="18" charset="0"/>
                <a:cs typeface="Times New Roman" panose="02020603050405020304" pitchFamily="18" charset="0"/>
              </a:rPr>
              <a:t>is applied, followed by partial least squares (PLS) regression. </a:t>
            </a:r>
          </a:p>
          <a:p>
            <a:pPr marL="285750" indent="-285750" algn="just">
              <a:buFont typeface="Wingdings" panose="05000000000000000000" pitchFamily="2" charset="2"/>
              <a:buChar char="Ø"/>
            </a:pPr>
            <a:r>
              <a:rPr lang="en-IN" sz="1500" dirty="0">
                <a:latin typeface="Times New Roman" panose="02020603050405020304" pitchFamily="18" charset="0"/>
                <a:cs typeface="Times New Roman" panose="02020603050405020304" pitchFamily="18" charset="0"/>
              </a:rPr>
              <a:t>Calculated values are outputted in SDF format, and external validation is conducted. Variable grouping, selection, and model predictivity assessment are performed, with PLS coefficients exported as grid maps for visualization of </a:t>
            </a:r>
            <a:r>
              <a:rPr lang="en-IN" sz="1500" dirty="0" err="1">
                <a:latin typeface="Times New Roman" panose="02020603050405020304" pitchFamily="18" charset="0"/>
                <a:cs typeface="Times New Roman" panose="02020603050405020304" pitchFamily="18" charset="0"/>
              </a:rPr>
              <a:t>isocontours</a:t>
            </a:r>
            <a:r>
              <a:rPr lang="en-IN" sz="1500" dirty="0">
                <a:latin typeface="Times New Roman" panose="02020603050405020304" pitchFamily="18" charset="0"/>
                <a:cs typeface="Times New Roman" panose="02020603050405020304" pitchFamily="18" charset="0"/>
              </a:rPr>
              <a:t> in </a:t>
            </a:r>
            <a:r>
              <a:rPr lang="en-IN" sz="1500" dirty="0" err="1">
                <a:latin typeface="Times New Roman" panose="02020603050405020304" pitchFamily="18" charset="0"/>
                <a:cs typeface="Times New Roman" panose="02020603050405020304" pitchFamily="18" charset="0"/>
              </a:rPr>
              <a:t>PyMOL</a:t>
            </a:r>
            <a:r>
              <a:rPr lang="en-IN" sz="15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37138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0D1C5B3-B60D-4696-AE60-100D5EC8A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73EDDF53-0851-48D4-A466-6FE0DCE91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2" cy="1576446"/>
            <a:chOff x="0" y="0"/>
            <a:chExt cx="12192002" cy="1576446"/>
          </a:xfrm>
        </p:grpSpPr>
        <p:sp>
          <p:nvSpPr>
            <p:cNvPr id="16" name="Rectangle 15">
              <a:extLst>
                <a:ext uri="{FF2B5EF4-FFF2-40B4-BE49-F238E27FC236}">
                  <a16:creationId xmlns:a16="http://schemas.microsoft.com/office/drawing/2014/main" id="{D074D04C-85E8-4A3E-90D7-86A10AE048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097020A-86B6-43BD-A2AA-66AE72CA31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0C6C743-32FE-4E24-AA22-45D3B1C7C0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C899D02E-222A-6424-A73E-2C603305639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224" r="33333" b="6821"/>
          <a:stretch/>
        </p:blipFill>
        <p:spPr bwMode="auto">
          <a:xfrm>
            <a:off x="161699" y="2071573"/>
            <a:ext cx="3663735" cy="3570470"/>
          </a:xfrm>
          <a:prstGeom prst="rect">
            <a:avLst/>
          </a:prstGeom>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B48A0B34-8C8D-ED4B-F24F-A8AE9CB4830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8947" r="27453" b="10797"/>
          <a:stretch/>
        </p:blipFill>
        <p:spPr bwMode="auto">
          <a:xfrm>
            <a:off x="3987133" y="2071573"/>
            <a:ext cx="3886182" cy="3570470"/>
          </a:xfrm>
          <a:prstGeom prst="rect">
            <a:avLst/>
          </a:prstGeom>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D57F5441-4C2C-C878-C0D7-9136ED8E857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978" t="3391" r="32076" b="10685"/>
          <a:stretch/>
        </p:blipFill>
        <p:spPr bwMode="auto">
          <a:xfrm>
            <a:off x="8026756" y="2155371"/>
            <a:ext cx="3714702" cy="3486672"/>
          </a:xfrm>
          <a:prstGeom prst="rect">
            <a:avLst/>
          </a:prstGeom>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AC5CD1CD-A3F8-BF33-C725-FDEC5A892860}"/>
              </a:ext>
            </a:extLst>
          </p:cNvPr>
          <p:cNvSpPr txBox="1"/>
          <p:nvPr/>
        </p:nvSpPr>
        <p:spPr>
          <a:xfrm>
            <a:off x="700391" y="496112"/>
            <a:ext cx="10120010" cy="593386"/>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3200" b="1" dirty="0">
                <a:solidFill>
                  <a:schemeClr val="bg1"/>
                </a:solidFill>
                <a:latin typeface="Times New Roman" panose="02020603050405020304" pitchFamily="18" charset="0"/>
                <a:cs typeface="Times New Roman" panose="02020603050405020304" pitchFamily="18" charset="0"/>
              </a:rPr>
              <a:t>3D QSAR results</a:t>
            </a:r>
          </a:p>
        </p:txBody>
      </p:sp>
    </p:spTree>
    <p:extLst>
      <p:ext uri="{BB962C8B-B14F-4D97-AF65-F5344CB8AC3E}">
        <p14:creationId xmlns:p14="http://schemas.microsoft.com/office/powerpoint/2010/main" val="1844289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7336F7B-7038-4227-BCAC-E417CC3F66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1649059-318F-2AB5-533E-2B87E7C8BBF7}"/>
              </a:ext>
            </a:extLst>
          </p:cNvPr>
          <p:cNvPicPr>
            <a:picLocks noChangeAspect="1"/>
          </p:cNvPicPr>
          <p:nvPr/>
        </p:nvPicPr>
        <p:blipFill rotWithShape="1">
          <a:blip r:embed="rId2">
            <a:extLst>
              <a:ext uri="{28A0092B-C50C-407E-A947-70E740481C1C}">
                <a14:useLocalDpi xmlns:a14="http://schemas.microsoft.com/office/drawing/2010/main" val="0"/>
              </a:ext>
            </a:extLst>
          </a:blip>
          <a:srcRect l="25745" r="20796" b="1"/>
          <a:stretch/>
        </p:blipFill>
        <p:spPr bwMode="auto">
          <a:xfrm>
            <a:off x="564203" y="852082"/>
            <a:ext cx="3424701" cy="2497404"/>
          </a:xfrm>
          <a:prstGeom prst="rect">
            <a:avLst/>
          </a:prstGeom>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9E89388F-45EF-37AB-60DC-34FE95407516}"/>
              </a:ext>
            </a:extLst>
          </p:cNvPr>
          <p:cNvPicPr>
            <a:picLocks noChangeAspect="1"/>
          </p:cNvPicPr>
          <p:nvPr/>
        </p:nvPicPr>
        <p:blipFill rotWithShape="1">
          <a:blip r:embed="rId3">
            <a:extLst>
              <a:ext uri="{28A0092B-C50C-407E-A947-70E740481C1C}">
                <a14:useLocalDpi xmlns:a14="http://schemas.microsoft.com/office/drawing/2010/main" val="0"/>
              </a:ext>
            </a:extLst>
          </a:blip>
          <a:srcRect l="21075" r="25465" b="1"/>
          <a:stretch/>
        </p:blipFill>
        <p:spPr bwMode="auto">
          <a:xfrm>
            <a:off x="4553107" y="852082"/>
            <a:ext cx="3448158" cy="2497404"/>
          </a:xfrm>
          <a:prstGeom prst="rect">
            <a:avLst/>
          </a:prstGeom>
          <a:extLst>
            <a:ext uri="{53640926-AAD7-44D8-BBD7-CCE9431645EC}">
              <a14:shadowObscured xmlns:a14="http://schemas.microsoft.com/office/drawing/2010/main"/>
            </a:ext>
          </a:extLst>
        </p:spPr>
      </p:pic>
      <p:pic>
        <p:nvPicPr>
          <p:cNvPr id="2" name="Picture 1">
            <a:extLst>
              <a:ext uri="{FF2B5EF4-FFF2-40B4-BE49-F238E27FC236}">
                <a16:creationId xmlns:a16="http://schemas.microsoft.com/office/drawing/2014/main" id="{21B8E031-B7FE-4746-4EF7-B86EFE4F427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8006" r="25703" b="2"/>
          <a:stretch/>
        </p:blipFill>
        <p:spPr bwMode="auto">
          <a:xfrm>
            <a:off x="8404697" y="852082"/>
            <a:ext cx="3581693" cy="2497404"/>
          </a:xfrm>
          <a:prstGeom prst="rect">
            <a:avLst/>
          </a:prstGeom>
          <a:extLst>
            <a:ext uri="{53640926-AAD7-44D8-BBD7-CCE9431645EC}">
              <a14:shadowObscured xmlns:a14="http://schemas.microsoft.com/office/drawing/2010/main"/>
            </a:ext>
          </a:extLst>
        </p:spPr>
      </p:pic>
      <p:pic>
        <p:nvPicPr>
          <p:cNvPr id="3" name="Picture 2">
            <a:extLst>
              <a:ext uri="{FF2B5EF4-FFF2-40B4-BE49-F238E27FC236}">
                <a16:creationId xmlns:a16="http://schemas.microsoft.com/office/drawing/2014/main" id="{2734F17E-60AF-C8FF-E445-DD084E4C3F73}"/>
              </a:ext>
            </a:extLst>
          </p:cNvPr>
          <p:cNvPicPr>
            <a:picLocks noChangeAspect="1"/>
          </p:cNvPicPr>
          <p:nvPr/>
        </p:nvPicPr>
        <p:blipFill rotWithShape="1">
          <a:blip r:embed="rId5">
            <a:extLst>
              <a:ext uri="{28A0092B-C50C-407E-A947-70E740481C1C}">
                <a14:useLocalDpi xmlns:a14="http://schemas.microsoft.com/office/drawing/2010/main" val="0"/>
              </a:ext>
            </a:extLst>
          </a:blip>
          <a:srcRect l="23922" r="22567" b="-3"/>
          <a:stretch/>
        </p:blipFill>
        <p:spPr bwMode="auto">
          <a:xfrm>
            <a:off x="558560" y="3832697"/>
            <a:ext cx="3424701" cy="2847239"/>
          </a:xfrm>
          <a:prstGeom prst="rect">
            <a:avLst/>
          </a:prstGeom>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8A717B34-C427-4210-1454-D7C68C64F9A6}"/>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23691" r="22798" b="-3"/>
          <a:stretch/>
        </p:blipFill>
        <p:spPr bwMode="auto">
          <a:xfrm>
            <a:off x="4541820" y="3832697"/>
            <a:ext cx="3453801" cy="2847240"/>
          </a:xfrm>
          <a:prstGeom prst="rect">
            <a:avLst/>
          </a:prstGeom>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C8D02CD2-72C9-529D-87AD-3A1133C8A77F}"/>
              </a:ext>
            </a:extLst>
          </p:cNvPr>
          <p:cNvPicPr>
            <a:picLocks noChangeAspect="1"/>
          </p:cNvPicPr>
          <p:nvPr/>
        </p:nvPicPr>
        <p:blipFill rotWithShape="1">
          <a:blip r:embed="rId7">
            <a:extLst>
              <a:ext uri="{28A0092B-C50C-407E-A947-70E740481C1C}">
                <a14:useLocalDpi xmlns:a14="http://schemas.microsoft.com/office/drawing/2010/main" val="0"/>
              </a:ext>
            </a:extLst>
          </a:blip>
          <a:srcRect l="19944" r="26546" b="-3"/>
          <a:stretch/>
        </p:blipFill>
        <p:spPr bwMode="auto">
          <a:xfrm>
            <a:off x="8399055" y="3832697"/>
            <a:ext cx="3581693" cy="2847240"/>
          </a:xfrm>
          <a:prstGeom prst="rect">
            <a:avLst/>
          </a:prstGeom>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89AFC4C6-6259-DC0F-66CE-7310B75E0E85}"/>
              </a:ext>
            </a:extLst>
          </p:cNvPr>
          <p:cNvSpPr txBox="1"/>
          <p:nvPr/>
        </p:nvSpPr>
        <p:spPr>
          <a:xfrm>
            <a:off x="680936" y="282102"/>
            <a:ext cx="3860884"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3D QSAR Models</a:t>
            </a:r>
          </a:p>
        </p:txBody>
      </p:sp>
    </p:spTree>
    <p:extLst>
      <p:ext uri="{BB962C8B-B14F-4D97-AF65-F5344CB8AC3E}">
        <p14:creationId xmlns:p14="http://schemas.microsoft.com/office/powerpoint/2010/main" val="1060299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 name="TextBox 1"/>
          <p:cNvSpPr txBox="1"/>
          <p:nvPr/>
        </p:nvSpPr>
        <p:spPr>
          <a:xfrm>
            <a:off x="4391890" y="591344"/>
            <a:ext cx="6961909" cy="5973546"/>
          </a:xfrm>
          <a:prstGeom prst="rect">
            <a:avLst/>
          </a:prstGeom>
        </p:spPr>
        <p:txBody>
          <a:bodyPr vert="horz" lIns="91440" tIns="45720" rIns="91440" bIns="45720" rtlCol="0" anchor="ctr">
            <a:normAutofit/>
          </a:bodyPr>
          <a:lstStyle/>
          <a:p>
            <a:pPr>
              <a:lnSpc>
                <a:spcPct val="90000"/>
              </a:lnSpc>
              <a:spcAft>
                <a:spcPts val="600"/>
              </a:spcAft>
            </a:pPr>
            <a:r>
              <a:rPr lang="en-US" sz="4400" b="1" dirty="0">
                <a:latin typeface="Times New Roman"/>
                <a:cs typeface="Times New Roman"/>
              </a:rPr>
              <a:t>Conclusion</a:t>
            </a:r>
          </a:p>
          <a:p>
            <a:pPr indent="-228600" algn="just">
              <a:lnSpc>
                <a:spcPct val="90000"/>
              </a:lnSpc>
              <a:spcAft>
                <a:spcPts val="600"/>
              </a:spcAft>
              <a:buFont typeface="Arial" panose="020B0604020202020204" pitchFamily="34" charset="0"/>
              <a:buChar char="•"/>
            </a:pPr>
            <a:endParaRPr lang="en-US" sz="2000" dirty="0">
              <a:latin typeface="Times New Roman"/>
              <a:cs typeface="Times New Roman"/>
            </a:endParaRPr>
          </a:p>
          <a:p>
            <a:pPr algn="just">
              <a:lnSpc>
                <a:spcPct val="90000"/>
              </a:lnSpc>
              <a:spcAft>
                <a:spcPts val="600"/>
              </a:spcAft>
            </a:pPr>
            <a:r>
              <a:rPr lang="en-US" sz="2000" dirty="0">
                <a:latin typeface="Times New Roman"/>
                <a:cs typeface="Times New Roman"/>
              </a:rPr>
              <a:t>The utilization of  gene target identification through microarray data analysis has shown promise in advancing our understanding of epigenetic disorders like Rett syndrome. By identifying specific genes involved in the condition, we can potentially develop more targeted therapies and interventions to improve patient healthcare outcomes. </a:t>
            </a:r>
          </a:p>
          <a:p>
            <a:pPr algn="just">
              <a:lnSpc>
                <a:spcPct val="90000"/>
              </a:lnSpc>
              <a:spcAft>
                <a:spcPts val="600"/>
              </a:spcAft>
            </a:pPr>
            <a:r>
              <a:rPr lang="en-US" sz="2000" dirty="0">
                <a:latin typeface="Times New Roman"/>
                <a:cs typeface="Times New Roman"/>
              </a:rPr>
              <a:t>Additionally, this approach may also enhance drug efficiency by allowing for the development of personalized treatments tailored to individual genetic profiles. The integration of genomic data into healthcare practices holds significant potential for advancing the treatment and management of Rett syndrome and other similar disorders.</a:t>
            </a:r>
            <a:endParaRPr lang="en-US" sz="2000" dirty="0">
              <a:latin typeface="Times New Roman"/>
              <a:ea typeface="Calibri"/>
              <a:cs typeface="Times New Roman"/>
            </a:endParaRPr>
          </a:p>
        </p:txBody>
      </p:sp>
    </p:spTree>
    <p:extLst>
      <p:ext uri="{BB962C8B-B14F-4D97-AF65-F5344CB8AC3E}">
        <p14:creationId xmlns:p14="http://schemas.microsoft.com/office/powerpoint/2010/main" val="1581805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A0A8CA2-3410-FB39-CB3F-8A0EE9F23B90}"/>
              </a:ext>
            </a:extLst>
          </p:cNvPr>
          <p:cNvSpPr txBox="1"/>
          <p:nvPr/>
        </p:nvSpPr>
        <p:spPr>
          <a:xfrm>
            <a:off x="710119" y="1206230"/>
            <a:ext cx="5554494" cy="4435813"/>
          </a:xfrm>
          <a:prstGeom prst="rect">
            <a:avLst/>
          </a:prstGeom>
        </p:spPr>
        <p:txBody>
          <a:bodyPr vert="horz" lIns="91440" tIns="45720" rIns="91440" bIns="45720" rtlCol="0" anchor="ctr">
            <a:normAutofit/>
          </a:bodyPr>
          <a:lstStyle/>
          <a:p>
            <a:pPr>
              <a:lnSpc>
                <a:spcPct val="90000"/>
              </a:lnSpc>
              <a:spcAft>
                <a:spcPts val="600"/>
              </a:spcAft>
            </a:pPr>
            <a:r>
              <a:rPr lang="en-US" sz="6600" b="1" dirty="0">
                <a:solidFill>
                  <a:schemeClr val="tx2"/>
                </a:solidFill>
                <a:latin typeface="Times New Roman" panose="02020603050405020304" pitchFamily="18" charset="0"/>
                <a:cs typeface="Times New Roman" panose="02020603050405020304" pitchFamily="18" charset="0"/>
              </a:rPr>
              <a:t>THANK YOU</a:t>
            </a:r>
          </a:p>
        </p:txBody>
      </p:sp>
      <p:grpSp>
        <p:nvGrpSpPr>
          <p:cNvPr id="13" name="Group 12">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4" name="Freeform: Shape 13">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descr="Smiling Face with No Fill">
            <a:extLst>
              <a:ext uri="{FF2B5EF4-FFF2-40B4-BE49-F238E27FC236}">
                <a16:creationId xmlns:a16="http://schemas.microsoft.com/office/drawing/2014/main" id="{F965F4FD-2EF7-0CD7-CA02-678060EF57B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709852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856</TotalTime>
  <Words>1453</Words>
  <Application>Microsoft Office PowerPoint</Application>
  <PresentationFormat>Widescreen</PresentationFormat>
  <Paragraphs>94</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DANTALA VENU BABU</dc:creator>
  <cp:lastModifiedBy>Naga Anjana Gopinath Meda</cp:lastModifiedBy>
  <cp:revision>49</cp:revision>
  <dcterms:created xsi:type="dcterms:W3CDTF">2023-11-16T16:03:59Z</dcterms:created>
  <dcterms:modified xsi:type="dcterms:W3CDTF">2024-05-08T04:55:42Z</dcterms:modified>
</cp:coreProperties>
</file>