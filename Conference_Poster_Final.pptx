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</p:sldIdLst>
  <p:sldSz cx="38404800" cy="3840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53" userDrawn="1">
          <p15:clr>
            <a:srgbClr val="A4A3A4"/>
          </p15:clr>
        </p15:guide>
        <p15:guide id="2" pos="11155" userDrawn="1">
          <p15:clr>
            <a:srgbClr val="A4A3A4"/>
          </p15:clr>
        </p15:guide>
        <p15:guide id="3" pos="14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13" autoAdjust="0"/>
    <p:restoredTop sz="94660"/>
  </p:normalViewPr>
  <p:slideViewPr>
    <p:cSldViewPr snapToGrid="0" showGuides="1">
      <p:cViewPr varScale="1">
        <p:scale>
          <a:sx n="13" d="100"/>
          <a:sy n="13" d="100"/>
        </p:scale>
        <p:origin x="2165" y="139"/>
      </p:cViewPr>
      <p:guideLst>
        <p:guide orient="horz" pos="15353"/>
        <p:guide pos="11155"/>
        <p:guide pos="14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1" y="6285234"/>
            <a:ext cx="32644080" cy="13370561"/>
          </a:xfrm>
        </p:spPr>
        <p:txBody>
          <a:bodyPr anchor="b"/>
          <a:lstStyle>
            <a:lvl1pPr algn="ctr">
              <a:defRPr sz="224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20171412"/>
            <a:ext cx="28803600" cy="9272268"/>
          </a:xfrm>
        </p:spPr>
        <p:txBody>
          <a:bodyPr/>
          <a:lstStyle>
            <a:lvl1pPr marL="0" indent="0" algn="ctr">
              <a:buNone/>
              <a:defRPr sz="8960"/>
            </a:lvl1pPr>
            <a:lvl2pPr marL="1706918" indent="0" algn="ctr">
              <a:buNone/>
              <a:defRPr sz="7467"/>
            </a:lvl2pPr>
            <a:lvl3pPr marL="3413837" indent="0" algn="ctr">
              <a:buNone/>
              <a:defRPr sz="6720"/>
            </a:lvl3pPr>
            <a:lvl4pPr marL="5120755" indent="0" algn="ctr">
              <a:buNone/>
              <a:defRPr sz="5973"/>
            </a:lvl4pPr>
            <a:lvl5pPr marL="6827674" indent="0" algn="ctr">
              <a:buNone/>
              <a:defRPr sz="5973"/>
            </a:lvl5pPr>
            <a:lvl6pPr marL="8534592" indent="0" algn="ctr">
              <a:buNone/>
              <a:defRPr sz="5973"/>
            </a:lvl6pPr>
            <a:lvl7pPr marL="10241510" indent="0" algn="ctr">
              <a:buNone/>
              <a:defRPr sz="5973"/>
            </a:lvl7pPr>
            <a:lvl8pPr marL="11948429" indent="0" algn="ctr">
              <a:buNone/>
              <a:defRPr sz="5973"/>
            </a:lvl8pPr>
            <a:lvl9pPr marL="13655347" indent="0" algn="ctr">
              <a:buNone/>
              <a:defRPr sz="59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DF66-020A-4DA9-B31D-6CE7EC271BFE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EEF-092E-4493-8FA4-65622290D3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54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DF66-020A-4DA9-B31D-6CE7EC271BFE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EEF-092E-4493-8FA4-65622290D3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54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329" y="9574543"/>
            <a:ext cx="33124140" cy="15975327"/>
          </a:xfrm>
        </p:spPr>
        <p:txBody>
          <a:bodyPr anchor="b"/>
          <a:lstStyle>
            <a:lvl1pPr>
              <a:defRPr sz="224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0329" y="25701001"/>
            <a:ext cx="33124140" cy="8401048"/>
          </a:xfrm>
        </p:spPr>
        <p:txBody>
          <a:bodyPr/>
          <a:lstStyle>
            <a:lvl1pPr marL="0" indent="0">
              <a:buNone/>
              <a:defRPr sz="8960">
                <a:solidFill>
                  <a:schemeClr val="tx1"/>
                </a:solidFill>
              </a:defRPr>
            </a:lvl1pPr>
            <a:lvl2pPr marL="1706918" indent="0">
              <a:buNone/>
              <a:defRPr sz="7467">
                <a:solidFill>
                  <a:schemeClr val="tx1">
                    <a:tint val="75000"/>
                  </a:schemeClr>
                </a:solidFill>
              </a:defRPr>
            </a:lvl2pPr>
            <a:lvl3pPr marL="3413837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3pPr>
            <a:lvl4pPr marL="5120755" indent="0">
              <a:buNone/>
              <a:defRPr sz="5973">
                <a:solidFill>
                  <a:schemeClr val="tx1">
                    <a:tint val="75000"/>
                  </a:schemeClr>
                </a:solidFill>
              </a:defRPr>
            </a:lvl4pPr>
            <a:lvl5pPr marL="6827674" indent="0">
              <a:buNone/>
              <a:defRPr sz="5973">
                <a:solidFill>
                  <a:schemeClr val="tx1">
                    <a:tint val="75000"/>
                  </a:schemeClr>
                </a:solidFill>
              </a:defRPr>
            </a:lvl5pPr>
            <a:lvl6pPr marL="8534592" indent="0">
              <a:buNone/>
              <a:defRPr sz="5973">
                <a:solidFill>
                  <a:schemeClr val="tx1">
                    <a:tint val="75000"/>
                  </a:schemeClr>
                </a:solidFill>
              </a:defRPr>
            </a:lvl6pPr>
            <a:lvl7pPr marL="10241510" indent="0">
              <a:buNone/>
              <a:defRPr sz="5973">
                <a:solidFill>
                  <a:schemeClr val="tx1">
                    <a:tint val="75000"/>
                  </a:schemeClr>
                </a:solidFill>
              </a:defRPr>
            </a:lvl7pPr>
            <a:lvl8pPr marL="11948429" indent="0">
              <a:buNone/>
              <a:defRPr sz="5973">
                <a:solidFill>
                  <a:schemeClr val="tx1">
                    <a:tint val="75000"/>
                  </a:schemeClr>
                </a:solidFill>
              </a:defRPr>
            </a:lvl8pPr>
            <a:lvl9pPr marL="13655347" indent="0">
              <a:buNone/>
              <a:defRPr sz="59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DF66-020A-4DA9-B31D-6CE7EC271BFE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EEF-092E-4493-8FA4-65622290D3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31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40330" y="10223501"/>
            <a:ext cx="16322040" cy="243674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42431" y="10223501"/>
            <a:ext cx="16322040" cy="243674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DF66-020A-4DA9-B31D-6CE7EC271BFE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EEF-092E-4493-8FA4-65622290D3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461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044708"/>
            <a:ext cx="33124140" cy="74231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5337" y="9414513"/>
            <a:ext cx="16247028" cy="4613907"/>
          </a:xfrm>
        </p:spPr>
        <p:txBody>
          <a:bodyPr anchor="b"/>
          <a:lstStyle>
            <a:lvl1pPr marL="0" indent="0">
              <a:buNone/>
              <a:defRPr sz="8960" b="1"/>
            </a:lvl1pPr>
            <a:lvl2pPr marL="1706918" indent="0">
              <a:buNone/>
              <a:defRPr sz="7467" b="1"/>
            </a:lvl2pPr>
            <a:lvl3pPr marL="3413837" indent="0">
              <a:buNone/>
              <a:defRPr sz="6720" b="1"/>
            </a:lvl3pPr>
            <a:lvl4pPr marL="5120755" indent="0">
              <a:buNone/>
              <a:defRPr sz="5973" b="1"/>
            </a:lvl4pPr>
            <a:lvl5pPr marL="6827674" indent="0">
              <a:buNone/>
              <a:defRPr sz="5973" b="1"/>
            </a:lvl5pPr>
            <a:lvl6pPr marL="8534592" indent="0">
              <a:buNone/>
              <a:defRPr sz="5973" b="1"/>
            </a:lvl6pPr>
            <a:lvl7pPr marL="10241510" indent="0">
              <a:buNone/>
              <a:defRPr sz="5973" b="1"/>
            </a:lvl7pPr>
            <a:lvl8pPr marL="11948429" indent="0">
              <a:buNone/>
              <a:defRPr sz="5973" b="1"/>
            </a:lvl8pPr>
            <a:lvl9pPr marL="13655347" indent="0">
              <a:buNone/>
              <a:defRPr sz="59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45337" y="14028421"/>
            <a:ext cx="16247028" cy="206336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442433" y="9414513"/>
            <a:ext cx="16327042" cy="4613907"/>
          </a:xfrm>
        </p:spPr>
        <p:txBody>
          <a:bodyPr anchor="b"/>
          <a:lstStyle>
            <a:lvl1pPr marL="0" indent="0">
              <a:buNone/>
              <a:defRPr sz="8960" b="1"/>
            </a:lvl1pPr>
            <a:lvl2pPr marL="1706918" indent="0">
              <a:buNone/>
              <a:defRPr sz="7467" b="1"/>
            </a:lvl2pPr>
            <a:lvl3pPr marL="3413837" indent="0">
              <a:buNone/>
              <a:defRPr sz="6720" b="1"/>
            </a:lvl3pPr>
            <a:lvl4pPr marL="5120755" indent="0">
              <a:buNone/>
              <a:defRPr sz="5973" b="1"/>
            </a:lvl4pPr>
            <a:lvl5pPr marL="6827674" indent="0">
              <a:buNone/>
              <a:defRPr sz="5973" b="1"/>
            </a:lvl5pPr>
            <a:lvl6pPr marL="8534592" indent="0">
              <a:buNone/>
              <a:defRPr sz="5973" b="1"/>
            </a:lvl6pPr>
            <a:lvl7pPr marL="10241510" indent="0">
              <a:buNone/>
              <a:defRPr sz="5973" b="1"/>
            </a:lvl7pPr>
            <a:lvl8pPr marL="11948429" indent="0">
              <a:buNone/>
              <a:defRPr sz="5973" b="1"/>
            </a:lvl8pPr>
            <a:lvl9pPr marL="13655347" indent="0">
              <a:buNone/>
              <a:defRPr sz="59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442433" y="14028421"/>
            <a:ext cx="16327042" cy="206336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DF66-020A-4DA9-B31D-6CE7EC271BFE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EEF-092E-4493-8FA4-65622290D3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31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DF66-020A-4DA9-B31D-6CE7EC271BFE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EEF-092E-4493-8FA4-65622290D3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4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DF66-020A-4DA9-B31D-6CE7EC271BFE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EEF-092E-4493-8FA4-65622290D3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331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560320"/>
            <a:ext cx="12386548" cy="8961120"/>
          </a:xfrm>
        </p:spPr>
        <p:txBody>
          <a:bodyPr anchor="b"/>
          <a:lstStyle>
            <a:lvl1pPr>
              <a:defRPr sz="119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27042" y="5529590"/>
            <a:ext cx="19442431" cy="27292299"/>
          </a:xfrm>
        </p:spPr>
        <p:txBody>
          <a:bodyPr/>
          <a:lstStyle>
            <a:lvl1pPr>
              <a:defRPr sz="11946"/>
            </a:lvl1pPr>
            <a:lvl2pPr>
              <a:defRPr sz="10454"/>
            </a:lvl2pPr>
            <a:lvl3pPr>
              <a:defRPr sz="8960"/>
            </a:lvl3pPr>
            <a:lvl4pPr>
              <a:defRPr sz="7467"/>
            </a:lvl4pPr>
            <a:lvl5pPr>
              <a:defRPr sz="7467"/>
            </a:lvl5pPr>
            <a:lvl6pPr>
              <a:defRPr sz="7467"/>
            </a:lvl6pPr>
            <a:lvl7pPr>
              <a:defRPr sz="7467"/>
            </a:lvl7pPr>
            <a:lvl8pPr>
              <a:defRPr sz="7467"/>
            </a:lvl8pPr>
            <a:lvl9pPr>
              <a:defRPr sz="7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332" y="11521439"/>
            <a:ext cx="12386548" cy="21344894"/>
          </a:xfrm>
        </p:spPr>
        <p:txBody>
          <a:bodyPr/>
          <a:lstStyle>
            <a:lvl1pPr marL="0" indent="0">
              <a:buNone/>
              <a:defRPr sz="5973"/>
            </a:lvl1pPr>
            <a:lvl2pPr marL="1706918" indent="0">
              <a:buNone/>
              <a:defRPr sz="5226"/>
            </a:lvl2pPr>
            <a:lvl3pPr marL="3413837" indent="0">
              <a:buNone/>
              <a:defRPr sz="4480"/>
            </a:lvl3pPr>
            <a:lvl4pPr marL="5120755" indent="0">
              <a:buNone/>
              <a:defRPr sz="3734"/>
            </a:lvl4pPr>
            <a:lvl5pPr marL="6827674" indent="0">
              <a:buNone/>
              <a:defRPr sz="3734"/>
            </a:lvl5pPr>
            <a:lvl6pPr marL="8534592" indent="0">
              <a:buNone/>
              <a:defRPr sz="3734"/>
            </a:lvl6pPr>
            <a:lvl7pPr marL="10241510" indent="0">
              <a:buNone/>
              <a:defRPr sz="3734"/>
            </a:lvl7pPr>
            <a:lvl8pPr marL="11948429" indent="0">
              <a:buNone/>
              <a:defRPr sz="3734"/>
            </a:lvl8pPr>
            <a:lvl9pPr marL="13655347" indent="0">
              <a:buNone/>
              <a:defRPr sz="37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DF66-020A-4DA9-B31D-6CE7EC271BFE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EEF-092E-4493-8FA4-65622290D3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13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560320"/>
            <a:ext cx="12386548" cy="8961120"/>
          </a:xfrm>
        </p:spPr>
        <p:txBody>
          <a:bodyPr anchor="b"/>
          <a:lstStyle>
            <a:lvl1pPr>
              <a:defRPr sz="119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327042" y="5529590"/>
            <a:ext cx="19442431" cy="27292299"/>
          </a:xfrm>
        </p:spPr>
        <p:txBody>
          <a:bodyPr anchor="t"/>
          <a:lstStyle>
            <a:lvl1pPr marL="0" indent="0">
              <a:buNone/>
              <a:defRPr sz="11946"/>
            </a:lvl1pPr>
            <a:lvl2pPr marL="1706918" indent="0">
              <a:buNone/>
              <a:defRPr sz="10454"/>
            </a:lvl2pPr>
            <a:lvl3pPr marL="3413837" indent="0">
              <a:buNone/>
              <a:defRPr sz="8960"/>
            </a:lvl3pPr>
            <a:lvl4pPr marL="5120755" indent="0">
              <a:buNone/>
              <a:defRPr sz="7467"/>
            </a:lvl4pPr>
            <a:lvl5pPr marL="6827674" indent="0">
              <a:buNone/>
              <a:defRPr sz="7467"/>
            </a:lvl5pPr>
            <a:lvl6pPr marL="8534592" indent="0">
              <a:buNone/>
              <a:defRPr sz="7467"/>
            </a:lvl6pPr>
            <a:lvl7pPr marL="10241510" indent="0">
              <a:buNone/>
              <a:defRPr sz="7467"/>
            </a:lvl7pPr>
            <a:lvl8pPr marL="11948429" indent="0">
              <a:buNone/>
              <a:defRPr sz="7467"/>
            </a:lvl8pPr>
            <a:lvl9pPr marL="13655347" indent="0">
              <a:buNone/>
              <a:defRPr sz="7467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332" y="11521439"/>
            <a:ext cx="12386548" cy="21344894"/>
          </a:xfrm>
        </p:spPr>
        <p:txBody>
          <a:bodyPr/>
          <a:lstStyle>
            <a:lvl1pPr marL="0" indent="0">
              <a:buNone/>
              <a:defRPr sz="5973"/>
            </a:lvl1pPr>
            <a:lvl2pPr marL="1706918" indent="0">
              <a:buNone/>
              <a:defRPr sz="5226"/>
            </a:lvl2pPr>
            <a:lvl3pPr marL="3413837" indent="0">
              <a:buNone/>
              <a:defRPr sz="4480"/>
            </a:lvl3pPr>
            <a:lvl4pPr marL="5120755" indent="0">
              <a:buNone/>
              <a:defRPr sz="3734"/>
            </a:lvl4pPr>
            <a:lvl5pPr marL="6827674" indent="0">
              <a:buNone/>
              <a:defRPr sz="3734"/>
            </a:lvl5pPr>
            <a:lvl6pPr marL="8534592" indent="0">
              <a:buNone/>
              <a:defRPr sz="3734"/>
            </a:lvl6pPr>
            <a:lvl7pPr marL="10241510" indent="0">
              <a:buNone/>
              <a:defRPr sz="3734"/>
            </a:lvl7pPr>
            <a:lvl8pPr marL="11948429" indent="0">
              <a:buNone/>
              <a:defRPr sz="3734"/>
            </a:lvl8pPr>
            <a:lvl9pPr marL="13655347" indent="0">
              <a:buNone/>
              <a:defRPr sz="37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DF66-020A-4DA9-B31D-6CE7EC271BFE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EEF-092E-4493-8FA4-65622290D3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19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DF66-020A-4DA9-B31D-6CE7EC271BFE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EEF-092E-4493-8FA4-65622290D3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22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483437" y="2044701"/>
            <a:ext cx="8281034" cy="32546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40332" y="2044701"/>
            <a:ext cx="24363045" cy="32546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DF66-020A-4DA9-B31D-6CE7EC271BFE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BEEF-092E-4493-8FA4-65622290D3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689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40330" y="2044708"/>
            <a:ext cx="33124140" cy="742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0330" y="10223501"/>
            <a:ext cx="33124140" cy="24367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40330" y="35595568"/>
            <a:ext cx="8641080" cy="2044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EDF66-020A-4DA9-B31D-6CE7EC271BFE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21590" y="35595568"/>
            <a:ext cx="12961620" cy="2044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123390" y="35595568"/>
            <a:ext cx="8641080" cy="2044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2BEEF-092E-4493-8FA4-65622290D3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48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413837" rtl="0" eaLnBrk="1" latinLnBrk="0" hangingPunct="1">
        <a:lnSpc>
          <a:spcPct val="90000"/>
        </a:lnSpc>
        <a:spcBef>
          <a:spcPct val="0"/>
        </a:spcBef>
        <a:buNone/>
        <a:defRPr sz="164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3460" indent="-853460" algn="l" defTabSz="3413837" rtl="0" eaLnBrk="1" latinLnBrk="0" hangingPunct="1">
        <a:lnSpc>
          <a:spcPct val="90000"/>
        </a:lnSpc>
        <a:spcBef>
          <a:spcPts val="3734"/>
        </a:spcBef>
        <a:buFont typeface="Arial" panose="020B0604020202020204" pitchFamily="34" charset="0"/>
        <a:buChar char="•"/>
        <a:defRPr sz="10454" kern="1200">
          <a:solidFill>
            <a:schemeClr val="tx1"/>
          </a:solidFill>
          <a:latin typeface="+mn-lt"/>
          <a:ea typeface="+mn-ea"/>
          <a:cs typeface="+mn-cs"/>
        </a:defRPr>
      </a:lvl1pPr>
      <a:lvl2pPr marL="2560377" indent="-853460" algn="l" defTabSz="3413837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2pPr>
      <a:lvl3pPr marL="4267297" indent="-853460" algn="l" defTabSz="3413837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3pPr>
      <a:lvl4pPr marL="5974214" indent="-853460" algn="l" defTabSz="3413837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4pPr>
      <a:lvl5pPr marL="7681132" indent="-853460" algn="l" defTabSz="3413837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5pPr>
      <a:lvl6pPr marL="9388051" indent="-853460" algn="l" defTabSz="3413837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6pPr>
      <a:lvl7pPr marL="11094969" indent="-853460" algn="l" defTabSz="3413837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889" indent="-853460" algn="l" defTabSz="3413837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8pPr>
      <a:lvl9pPr marL="14508806" indent="-853460" algn="l" defTabSz="3413837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13837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706918" algn="l" defTabSz="3413837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2pPr>
      <a:lvl3pPr marL="3413837" algn="l" defTabSz="3413837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3pPr>
      <a:lvl4pPr marL="5120755" algn="l" defTabSz="3413837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4pPr>
      <a:lvl5pPr marL="6827674" algn="l" defTabSz="3413837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5pPr>
      <a:lvl6pPr marL="8534592" algn="l" defTabSz="3413837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6pPr>
      <a:lvl7pPr marL="10241510" algn="l" defTabSz="3413837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7pPr>
      <a:lvl8pPr marL="11948429" algn="l" defTabSz="3413837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8pPr>
      <a:lvl9pPr marL="13655347" algn="l" defTabSz="3413837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5" Type="http://schemas.openxmlformats.org/officeDocument/2006/relationships/image" Target="../media/image13.jpeg"/><Relationship Id="rId10" Type="http://schemas.openxmlformats.org/officeDocument/2006/relationships/image" Target="../media/image8.jpg"/><Relationship Id="rId4" Type="http://schemas.openxmlformats.org/officeDocument/2006/relationships/image" Target="../media/image3.png"/><Relationship Id="rId9" Type="http://schemas.openxmlformats.org/officeDocument/2006/relationships/image" Target="../media/image7.jp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D5795F-5401-F392-6639-23844717E089}"/>
              </a:ext>
            </a:extLst>
          </p:cNvPr>
          <p:cNvSpPr/>
          <p:nvPr/>
        </p:nvSpPr>
        <p:spPr>
          <a:xfrm>
            <a:off x="863599" y="895573"/>
            <a:ext cx="36565254" cy="4233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200" b="1" u="sng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US" sz="3200" b="1" u="sng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85C0E2-1DBF-4767-2BC6-FDAD620FC231}"/>
              </a:ext>
            </a:extLst>
          </p:cNvPr>
          <p:cNvSpPr txBox="1"/>
          <p:nvPr/>
        </p:nvSpPr>
        <p:spPr>
          <a:xfrm>
            <a:off x="1596390" y="1433027"/>
            <a:ext cx="34868292" cy="3768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5400" b="1" dirty="0">
                <a:solidFill>
                  <a:srgbClr val="FF0000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Aptos" panose="020B0004020202020204" pitchFamily="34" charset="0"/>
              </a:rPr>
              <a:t>GENE TARGET IDENTIFICATION FOR EPIGENETIC DISORDERS USING MICROARRAY DATA</a:t>
            </a:r>
            <a:endParaRPr lang="en-IN" sz="5400" dirty="0">
              <a:solidFill>
                <a:srgbClr val="FF0000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44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Naga Anjana Gopinath Meda</a:t>
            </a:r>
            <a:r>
              <a:rPr lang="en-IN" sz="4400" b="1" baseline="300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#</a:t>
            </a:r>
            <a:r>
              <a:rPr lang="en-IN" sz="44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Likhitha Priya Naidu</a:t>
            </a:r>
            <a:r>
              <a:rPr lang="en-IN" sz="4400" b="1" baseline="300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#</a:t>
            </a:r>
            <a:r>
              <a:rPr lang="en-IN" sz="44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and Dr. Viswajit Mulpuru</a:t>
            </a:r>
            <a:r>
              <a:rPr lang="en-IN" sz="4400" b="1" baseline="300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*</a:t>
            </a:r>
            <a:endParaRPr lang="en-IN" sz="44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44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Department of Bioinformatics,</a:t>
            </a:r>
            <a:endParaRPr lang="en-IN" sz="44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44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Vignan’s Foundation for Science Technology and Research (Deemed to be University)</a:t>
            </a:r>
            <a:endParaRPr lang="en-IN" sz="44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CBA128-2A09-1B53-836C-58155961F2CC}"/>
              </a:ext>
            </a:extLst>
          </p:cNvPr>
          <p:cNvSpPr/>
          <p:nvPr/>
        </p:nvSpPr>
        <p:spPr>
          <a:xfrm>
            <a:off x="485616" y="5594976"/>
            <a:ext cx="17865441" cy="97091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rgbClr val="002060"/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Diseases known as epigenetic disorders are defined by modifications in gene expression without variations in DNA sequence.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Mutations in the MECP2 gene are responsible for the neurodevelopmental epigenetic disease known as Rett syndrome.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CTCF gene was found to have a strong correlation with Differential Gene Expression (DEG) study.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Drug design for Rett syndrome that targets the CTCF protein is investigated using molecular docking, homology modeling, and molecular dynamics (MD) simulations.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"Arboreol" was discovered to be a viable candidate medication with a strong affinity against 100 phytochemicals.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Upcoming research will employ STRING and Cytoscape for network analysis in order to better identify potential genes.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5A5DAA-713C-70A1-1299-B540F2E4B73D}"/>
              </a:ext>
            </a:extLst>
          </p:cNvPr>
          <p:cNvSpPr/>
          <p:nvPr/>
        </p:nvSpPr>
        <p:spPr>
          <a:xfrm>
            <a:off x="25014898" y="5549560"/>
            <a:ext cx="12904286" cy="126363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4000" b="1" dirty="0">
              <a:solidFill>
                <a:srgbClr val="C00000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solidFill>
                <a:srgbClr val="C00000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000" dirty="0">
              <a:solidFill>
                <a:srgbClr val="C00000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employs a multidisciplinary approach to investigate Rett Syndrome (RTT) pathogenesis and identify therapeutic targets.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begins with a literature review to identify biogenic markers and retrieves microarray data from the GEO database, focusing on MECP2.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using the edgeR package identifies DEGs associated with RTT.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drug discovery pipeline, including homology modeling and docking studies, predicts potential drug candidates interacting with targets. Molecular dynamics simulations assess protein-drug complex stability.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analysis using STRING and Cytoscape elucidates molecular interactions, aiding in candidate gene prioritization.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integrated approach aims to enhance understanding of RTT's mechanisms and develop precision medicine strategies for improved patient outcomes.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44992E-EDB2-DA72-DF64-153246225422}"/>
              </a:ext>
            </a:extLst>
          </p:cNvPr>
          <p:cNvSpPr/>
          <p:nvPr/>
        </p:nvSpPr>
        <p:spPr>
          <a:xfrm>
            <a:off x="1158702" y="15697381"/>
            <a:ext cx="14711777" cy="123205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003">
            <a:schemeClr val="lt2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643AC1-2FE6-9154-EA36-DCEAE0EA253C}"/>
              </a:ext>
            </a:extLst>
          </p:cNvPr>
          <p:cNvSpPr/>
          <p:nvPr/>
        </p:nvSpPr>
        <p:spPr>
          <a:xfrm>
            <a:off x="322195" y="27382543"/>
            <a:ext cx="18366931" cy="10829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0070C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Microarray data analysis of GEO dataset GSE214548 identified under-expression of the CTCF gene, implicating its involvement in Rett Syndrome.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designing for the CTCF protein involved homology modeling to create a 3D protein structure using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Docking studies against 100 phytochemicals from the IMPATT database adhered to Lipinski's rule, Veber's rule, Ghose's rule, and Egan's rule, with "Arboreol" exhibiting the highest affinity of -7.632 kcal/mol.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 Dynamics (MD) simulations provided deeper insights into the interaction energy between Arboreol and the CTCF protein, showing favorable RMSD and RMSF plots.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another dataset (GSE75303) yielded a list of significant genes, leading to further network analysis using STRING and Cytoscape tools.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ACTB and AIF1 were identified as genes with the highest degree of interaction and stress values within the network, suggesting their potential significance in the context of the study.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19F450F-4BAC-ECDA-632A-53EC9FC19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99" y="23262219"/>
            <a:ext cx="5141795" cy="377466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3FCA641-FE2B-C4E8-E79B-6FD7ACA964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117" y="23489019"/>
            <a:ext cx="4403773" cy="3774663"/>
          </a:xfrm>
          <a:prstGeom prst="rect">
            <a:avLst/>
          </a:prstGeom>
        </p:spPr>
      </p:pic>
      <p:pic>
        <p:nvPicPr>
          <p:cNvPr id="35" name="Picture 34" descr="A white cloud with circles and lines&#10;&#10;Description automatically generated">
            <a:extLst>
              <a:ext uri="{FF2B5EF4-FFF2-40B4-BE49-F238E27FC236}">
                <a16:creationId xmlns:a16="http://schemas.microsoft.com/office/drawing/2014/main" id="{AA273DD3-CE02-19EE-9146-F8F34A8055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89" t="30983" r="14574"/>
          <a:stretch/>
        </p:blipFill>
        <p:spPr>
          <a:xfrm>
            <a:off x="26488861" y="18589522"/>
            <a:ext cx="5510895" cy="294049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034A539-F486-6A66-8D9D-167A84A3BFF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0428"/>
          <a:stretch/>
        </p:blipFill>
        <p:spPr>
          <a:xfrm>
            <a:off x="18524795" y="5678262"/>
            <a:ext cx="6316365" cy="8679882"/>
          </a:xfrm>
          <a:prstGeom prst="rect">
            <a:avLst/>
          </a:prstGeom>
        </p:spPr>
      </p:pic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D84BD50E-EFE6-478A-15AC-3AFEEEF3D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298887"/>
              </p:ext>
            </p:extLst>
          </p:nvPr>
        </p:nvGraphicFramePr>
        <p:xfrm>
          <a:off x="32496369" y="18717466"/>
          <a:ext cx="5190848" cy="3565814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732753">
                  <a:extLst>
                    <a:ext uri="{9D8B030D-6E8A-4147-A177-3AD203B41FA5}">
                      <a16:colId xmlns:a16="http://schemas.microsoft.com/office/drawing/2014/main" val="4137084380"/>
                    </a:ext>
                  </a:extLst>
                </a:gridCol>
                <a:gridCol w="1394293">
                  <a:extLst>
                    <a:ext uri="{9D8B030D-6E8A-4147-A177-3AD203B41FA5}">
                      <a16:colId xmlns:a16="http://schemas.microsoft.com/office/drawing/2014/main" val="4243872518"/>
                    </a:ext>
                  </a:extLst>
                </a:gridCol>
                <a:gridCol w="1873067">
                  <a:extLst>
                    <a:ext uri="{9D8B030D-6E8A-4147-A177-3AD203B41FA5}">
                      <a16:colId xmlns:a16="http://schemas.microsoft.com/office/drawing/2014/main" val="6776810"/>
                    </a:ext>
                  </a:extLst>
                </a:gridCol>
                <a:gridCol w="1190735">
                  <a:extLst>
                    <a:ext uri="{9D8B030D-6E8A-4147-A177-3AD203B41FA5}">
                      <a16:colId xmlns:a16="http://schemas.microsoft.com/office/drawing/2014/main" val="2563015484"/>
                    </a:ext>
                  </a:extLst>
                </a:gridCol>
              </a:tblGrid>
              <a:tr h="183159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Top 10 Docked Phytochemicals with protein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46678"/>
                  </a:ext>
                </a:extLst>
              </a:tr>
              <a:tr h="4769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Sl. No.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IMPATT ID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Phytochemical Name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Affinity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(kcal/mol)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8988586"/>
                  </a:ext>
                </a:extLst>
              </a:tr>
              <a:tr h="183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IMPHY003954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Arboreol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-7.632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5523361"/>
                  </a:ext>
                </a:extLst>
              </a:tr>
              <a:tr h="5758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IMPHY007572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Ophiopogonanone A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-7.493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49184709"/>
                  </a:ext>
                </a:extLst>
              </a:tr>
              <a:tr h="6537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3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IMPHY013734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Wodeshiol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-7.407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2613333"/>
                  </a:ext>
                </a:extLst>
              </a:tr>
              <a:tr h="183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4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IMPHY011147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Styraxin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-7.288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2501071"/>
                  </a:ext>
                </a:extLst>
              </a:tr>
              <a:tr h="183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5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IMPHY003529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3,3'-Bisjuglone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-7.283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7769222"/>
                  </a:ext>
                </a:extLst>
              </a:tr>
              <a:tr h="2254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6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IMPHY011238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Methyl ophiopogonanone A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-7.279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20893595"/>
                  </a:ext>
                </a:extLst>
              </a:tr>
              <a:tr h="183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7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IMPHY001304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Eryvarin A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-7.267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24999784"/>
                  </a:ext>
                </a:extLst>
              </a:tr>
              <a:tr h="183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8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IMPHY003137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Paulownin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-7.264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537016"/>
                  </a:ext>
                </a:extLst>
              </a:tr>
              <a:tr h="183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9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IMPHY003597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Cinnamonol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-7.242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6288215"/>
                  </a:ext>
                </a:extLst>
              </a:tr>
              <a:tr h="183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10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IMPHY004212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Isoarboreol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-7.169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6706903"/>
                  </a:ext>
                </a:extLst>
              </a:tr>
            </a:tbl>
          </a:graphicData>
        </a:graphic>
      </p:graphicFrame>
      <p:pic>
        <p:nvPicPr>
          <p:cNvPr id="48" name="Picture 47">
            <a:extLst>
              <a:ext uri="{FF2B5EF4-FFF2-40B4-BE49-F238E27FC236}">
                <a16:creationId xmlns:a16="http://schemas.microsoft.com/office/drawing/2014/main" id="{6928BD2E-7DB0-E0E5-F7EC-BB1FFE7CAD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7277" y="22849515"/>
            <a:ext cx="5831435" cy="398844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9A5FD0F-FAB1-7983-A34F-1A3E1D0B38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6907" y="27111656"/>
            <a:ext cx="4621327" cy="54651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B9031B-6340-D95B-B5F0-9E0571FF62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4138" y="32929848"/>
            <a:ext cx="9237063" cy="5195848"/>
          </a:xfrm>
          <a:prstGeom prst="rect">
            <a:avLst/>
          </a:prstGeom>
        </p:spPr>
      </p:pic>
      <p:pic>
        <p:nvPicPr>
          <p:cNvPr id="37" name="Picture 36" descr="A screenshot of a computer&#10;&#10;Description automatically generated">
            <a:extLst>
              <a:ext uri="{FF2B5EF4-FFF2-40B4-BE49-F238E27FC236}">
                <a16:creationId xmlns:a16="http://schemas.microsoft.com/office/drawing/2014/main" id="{E7585647-EB2B-788F-956E-F8D708319A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8759" y="32988229"/>
            <a:ext cx="8535747" cy="4801358"/>
          </a:xfrm>
          <a:prstGeom prst="rect">
            <a:avLst/>
          </a:prstGeom>
        </p:spPr>
      </p:pic>
      <p:pic>
        <p:nvPicPr>
          <p:cNvPr id="3" name="Picture 2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F9C4B4BD-4657-D545-2557-BA764C603C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6886" y="26951768"/>
            <a:ext cx="6014536" cy="56328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489CACB-A8F7-40F2-0C09-F71CE8DE5E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5889" y="22401006"/>
            <a:ext cx="4928027" cy="44206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C19E62-4D3F-5857-EA79-403C0777EA3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6263" y="27572686"/>
            <a:ext cx="6253464" cy="5011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C14BDC-9EB7-3D61-E909-097610DDBB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437" y="22592944"/>
            <a:ext cx="4874985" cy="4242014"/>
          </a:xfrm>
          <a:prstGeom prst="rect">
            <a:avLst/>
          </a:prstGeom>
        </p:spPr>
      </p:pic>
      <p:pic>
        <p:nvPicPr>
          <p:cNvPr id="13" name="Picture 12" descr="A diagram of a disease&#10;&#10;Description automatically generated">
            <a:extLst>
              <a:ext uri="{FF2B5EF4-FFF2-40B4-BE49-F238E27FC236}">
                <a16:creationId xmlns:a16="http://schemas.microsoft.com/office/drawing/2014/main" id="{1052EC7C-939E-7B9C-EACE-FA1957269C2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0036" y="23607881"/>
            <a:ext cx="4000500" cy="3429000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15B6C688-D312-DC7C-04E1-0652B2D35739}"/>
              </a:ext>
            </a:extLst>
          </p:cNvPr>
          <p:cNvGrpSpPr/>
          <p:nvPr/>
        </p:nvGrpSpPr>
        <p:grpSpPr>
          <a:xfrm>
            <a:off x="384298" y="17063177"/>
            <a:ext cx="22279760" cy="4466835"/>
            <a:chOff x="3978400" y="18228633"/>
            <a:chExt cx="17712747" cy="3450613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1761D97-CDEC-69A0-01B1-5CDB296EF984}"/>
                </a:ext>
              </a:extLst>
            </p:cNvPr>
            <p:cNvSpPr/>
            <p:nvPr/>
          </p:nvSpPr>
          <p:spPr>
            <a:xfrm>
              <a:off x="18241098" y="18228633"/>
              <a:ext cx="3450049" cy="3450613"/>
            </a:xfrm>
            <a:prstGeom prst="ellipse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E0922A5-BDF5-5CF5-7EB5-E5547242BEC5}"/>
                </a:ext>
              </a:extLst>
            </p:cNvPr>
            <p:cNvSpPr/>
            <p:nvPr/>
          </p:nvSpPr>
          <p:spPr>
            <a:xfrm>
              <a:off x="18354936" y="18343673"/>
              <a:ext cx="3220535" cy="3220532"/>
            </a:xfrm>
            <a:custGeom>
              <a:avLst/>
              <a:gdLst>
                <a:gd name="connsiteX0" fmla="*/ 0 w 3220535"/>
                <a:gd name="connsiteY0" fmla="*/ 1610266 h 3220532"/>
                <a:gd name="connsiteX1" fmla="*/ 1610268 w 3220535"/>
                <a:gd name="connsiteY1" fmla="*/ 0 h 3220532"/>
                <a:gd name="connsiteX2" fmla="*/ 3220536 w 3220535"/>
                <a:gd name="connsiteY2" fmla="*/ 1610266 h 3220532"/>
                <a:gd name="connsiteX3" fmla="*/ 1610268 w 3220535"/>
                <a:gd name="connsiteY3" fmla="*/ 3220532 h 3220532"/>
                <a:gd name="connsiteX4" fmla="*/ 0 w 3220535"/>
                <a:gd name="connsiteY4" fmla="*/ 1610266 h 3220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0535" h="3220532">
                  <a:moveTo>
                    <a:pt x="0" y="1610266"/>
                  </a:moveTo>
                  <a:cubicBezTo>
                    <a:pt x="0" y="720941"/>
                    <a:pt x="720942" y="0"/>
                    <a:pt x="1610268" y="0"/>
                  </a:cubicBezTo>
                  <a:cubicBezTo>
                    <a:pt x="2499594" y="0"/>
                    <a:pt x="3220536" y="720941"/>
                    <a:pt x="3220536" y="1610266"/>
                  </a:cubicBezTo>
                  <a:cubicBezTo>
                    <a:pt x="3220536" y="2499591"/>
                    <a:pt x="2499594" y="3220532"/>
                    <a:pt x="1610268" y="3220532"/>
                  </a:cubicBezTo>
                  <a:cubicBezTo>
                    <a:pt x="720942" y="3220532"/>
                    <a:pt x="0" y="2499591"/>
                    <a:pt x="0" y="1610266"/>
                  </a:cubicBezTo>
                  <a:close/>
                </a:path>
              </a:pathLst>
            </a:cu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1344" tIns="490643" rIns="489507" bIns="490642" numCol="1" spcCol="1270" anchor="ctr" anchorCtr="0">
              <a:noAutofit/>
            </a:bodyPr>
            <a:lstStyle/>
            <a:p>
              <a:pPr marL="0" lvl="0" indent="0" algn="ctr" defTabSz="10668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>
                  <a:latin typeface="Times New Roman"/>
                  <a:cs typeface="Times New Roman"/>
                </a:rPr>
                <a:t>Network analysis using STRING &amp; Cytoscape</a:t>
              </a:r>
            </a:p>
          </p:txBody>
        </p:sp>
        <p:sp>
          <p:nvSpPr>
            <p:cNvPr id="70" name="Teardrop 69">
              <a:extLst>
                <a:ext uri="{FF2B5EF4-FFF2-40B4-BE49-F238E27FC236}">
                  <a16:creationId xmlns:a16="http://schemas.microsoft.com/office/drawing/2014/main" id="{14CBAF2B-F187-590E-3303-1417A0AD2599}"/>
                </a:ext>
              </a:extLst>
            </p:cNvPr>
            <p:cNvSpPr/>
            <p:nvPr/>
          </p:nvSpPr>
          <p:spPr>
            <a:xfrm rot="2700000">
              <a:off x="14673737" y="18228812"/>
              <a:ext cx="3449650" cy="3449650"/>
            </a:xfrm>
            <a:prstGeom prst="teardrop">
              <a:avLst>
                <a:gd name="adj" fmla="val 10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0C2AA78-1078-F724-D3C5-BE0340064C9A}"/>
                </a:ext>
              </a:extLst>
            </p:cNvPr>
            <p:cNvSpPr/>
            <p:nvPr/>
          </p:nvSpPr>
          <p:spPr>
            <a:xfrm>
              <a:off x="14791048" y="18343673"/>
              <a:ext cx="3220535" cy="3220532"/>
            </a:xfrm>
            <a:custGeom>
              <a:avLst/>
              <a:gdLst>
                <a:gd name="connsiteX0" fmla="*/ 0 w 3220535"/>
                <a:gd name="connsiteY0" fmla="*/ 1610266 h 3220532"/>
                <a:gd name="connsiteX1" fmla="*/ 1610268 w 3220535"/>
                <a:gd name="connsiteY1" fmla="*/ 0 h 3220532"/>
                <a:gd name="connsiteX2" fmla="*/ 3220536 w 3220535"/>
                <a:gd name="connsiteY2" fmla="*/ 1610266 h 3220532"/>
                <a:gd name="connsiteX3" fmla="*/ 1610268 w 3220535"/>
                <a:gd name="connsiteY3" fmla="*/ 3220532 h 3220532"/>
                <a:gd name="connsiteX4" fmla="*/ 0 w 3220535"/>
                <a:gd name="connsiteY4" fmla="*/ 1610266 h 3220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0535" h="3220532">
                  <a:moveTo>
                    <a:pt x="0" y="1610266"/>
                  </a:moveTo>
                  <a:cubicBezTo>
                    <a:pt x="0" y="720941"/>
                    <a:pt x="720942" y="0"/>
                    <a:pt x="1610268" y="0"/>
                  </a:cubicBezTo>
                  <a:cubicBezTo>
                    <a:pt x="2499594" y="0"/>
                    <a:pt x="3220536" y="720941"/>
                    <a:pt x="3220536" y="1610266"/>
                  </a:cubicBezTo>
                  <a:cubicBezTo>
                    <a:pt x="3220536" y="2499591"/>
                    <a:pt x="2499594" y="3220532"/>
                    <a:pt x="1610268" y="3220532"/>
                  </a:cubicBezTo>
                  <a:cubicBezTo>
                    <a:pt x="720942" y="3220532"/>
                    <a:pt x="0" y="2499591"/>
                    <a:pt x="0" y="1610266"/>
                  </a:cubicBezTo>
                  <a:close/>
                </a:path>
              </a:pathLst>
            </a:custGeom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89508" tIns="490643" rIns="491343" bIns="490642" numCol="1" spcCol="1270" anchor="ctr" anchorCtr="0">
              <a:noAutofit/>
            </a:bodyPr>
            <a:lstStyle/>
            <a:p>
              <a:pPr marL="0" lvl="0" indent="0" algn="ctr" defTabSz="10668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>
                  <a:latin typeface="Times New Roman"/>
                  <a:cs typeface="Times New Roman"/>
                </a:rPr>
                <a:t>Drug Discovery (Homology Modelling, Docking studies, Molecular Dynamic(MD) Simulations).</a:t>
              </a:r>
            </a:p>
          </p:txBody>
        </p:sp>
        <p:sp>
          <p:nvSpPr>
            <p:cNvPr id="72" name="Teardrop 71">
              <a:extLst>
                <a:ext uri="{FF2B5EF4-FFF2-40B4-BE49-F238E27FC236}">
                  <a16:creationId xmlns:a16="http://schemas.microsoft.com/office/drawing/2014/main" id="{5FFF7875-FB6E-9810-94C3-B81BCE2FEA95}"/>
                </a:ext>
              </a:extLst>
            </p:cNvPr>
            <p:cNvSpPr/>
            <p:nvPr/>
          </p:nvSpPr>
          <p:spPr>
            <a:xfrm rot="2700000">
              <a:off x="11109849" y="18228812"/>
              <a:ext cx="3449650" cy="3449650"/>
            </a:xfrm>
            <a:prstGeom prst="teardrop">
              <a:avLst>
                <a:gd name="adj" fmla="val 10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3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D93DCF9-58D2-5B7E-0215-18A3DFB79417}"/>
                </a:ext>
              </a:extLst>
            </p:cNvPr>
            <p:cNvSpPr/>
            <p:nvPr/>
          </p:nvSpPr>
          <p:spPr>
            <a:xfrm>
              <a:off x="11225324" y="18343673"/>
              <a:ext cx="3220535" cy="3220532"/>
            </a:xfrm>
            <a:custGeom>
              <a:avLst/>
              <a:gdLst>
                <a:gd name="connsiteX0" fmla="*/ 0 w 3220535"/>
                <a:gd name="connsiteY0" fmla="*/ 1610266 h 3220532"/>
                <a:gd name="connsiteX1" fmla="*/ 1610268 w 3220535"/>
                <a:gd name="connsiteY1" fmla="*/ 0 h 3220532"/>
                <a:gd name="connsiteX2" fmla="*/ 3220536 w 3220535"/>
                <a:gd name="connsiteY2" fmla="*/ 1610266 h 3220532"/>
                <a:gd name="connsiteX3" fmla="*/ 1610268 w 3220535"/>
                <a:gd name="connsiteY3" fmla="*/ 3220532 h 3220532"/>
                <a:gd name="connsiteX4" fmla="*/ 0 w 3220535"/>
                <a:gd name="connsiteY4" fmla="*/ 1610266 h 3220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0535" h="3220532">
                  <a:moveTo>
                    <a:pt x="0" y="1610266"/>
                  </a:moveTo>
                  <a:cubicBezTo>
                    <a:pt x="0" y="720941"/>
                    <a:pt x="720942" y="0"/>
                    <a:pt x="1610268" y="0"/>
                  </a:cubicBezTo>
                  <a:cubicBezTo>
                    <a:pt x="2499594" y="0"/>
                    <a:pt x="3220536" y="720941"/>
                    <a:pt x="3220536" y="1610266"/>
                  </a:cubicBezTo>
                  <a:cubicBezTo>
                    <a:pt x="3220536" y="2499591"/>
                    <a:pt x="2499594" y="3220532"/>
                    <a:pt x="1610268" y="3220532"/>
                  </a:cubicBezTo>
                  <a:cubicBezTo>
                    <a:pt x="720942" y="3220532"/>
                    <a:pt x="0" y="2499591"/>
                    <a:pt x="0" y="1610266"/>
                  </a:cubicBezTo>
                  <a:close/>
                </a:path>
              </a:pathLst>
            </a:custGeom>
          </p:spPr>
          <p:style>
            <a:lnRef idx="1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89507" tIns="490643" rIns="491344" bIns="490642" numCol="1" spcCol="1270" anchor="ctr" anchorCtr="0">
              <a:noAutofit/>
            </a:bodyPr>
            <a:lstStyle/>
            <a:p>
              <a:pPr marL="0" lvl="0" indent="0" algn="ctr" defTabSz="10668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>
                  <a:latin typeface="Times New Roman"/>
                  <a:cs typeface="Times New Roman"/>
                </a:rPr>
                <a:t> Microarray data analysis using edgeR package of R Programming.</a:t>
              </a:r>
            </a:p>
          </p:txBody>
        </p:sp>
        <p:sp>
          <p:nvSpPr>
            <p:cNvPr id="74" name="Teardrop 73">
              <a:extLst>
                <a:ext uri="{FF2B5EF4-FFF2-40B4-BE49-F238E27FC236}">
                  <a16:creationId xmlns:a16="http://schemas.microsoft.com/office/drawing/2014/main" id="{A91998FD-034E-7312-3A88-AE56D0AFBCFE}"/>
                </a:ext>
              </a:extLst>
            </p:cNvPr>
            <p:cNvSpPr/>
            <p:nvPr/>
          </p:nvSpPr>
          <p:spPr>
            <a:xfrm rot="2700000">
              <a:off x="7544124" y="18228812"/>
              <a:ext cx="3449650" cy="3449650"/>
            </a:xfrm>
            <a:prstGeom prst="teardrop">
              <a:avLst>
                <a:gd name="adj" fmla="val 10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3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1591A97-28CE-4912-9570-A071648F8DE6}"/>
                </a:ext>
              </a:extLst>
            </p:cNvPr>
            <p:cNvSpPr/>
            <p:nvPr/>
          </p:nvSpPr>
          <p:spPr>
            <a:xfrm>
              <a:off x="7659600" y="18343673"/>
              <a:ext cx="3220535" cy="3220532"/>
            </a:xfrm>
            <a:custGeom>
              <a:avLst/>
              <a:gdLst>
                <a:gd name="connsiteX0" fmla="*/ 0 w 3220535"/>
                <a:gd name="connsiteY0" fmla="*/ 1610266 h 3220532"/>
                <a:gd name="connsiteX1" fmla="*/ 1610268 w 3220535"/>
                <a:gd name="connsiteY1" fmla="*/ 0 h 3220532"/>
                <a:gd name="connsiteX2" fmla="*/ 3220536 w 3220535"/>
                <a:gd name="connsiteY2" fmla="*/ 1610266 h 3220532"/>
                <a:gd name="connsiteX3" fmla="*/ 1610268 w 3220535"/>
                <a:gd name="connsiteY3" fmla="*/ 3220532 h 3220532"/>
                <a:gd name="connsiteX4" fmla="*/ 0 w 3220535"/>
                <a:gd name="connsiteY4" fmla="*/ 1610266 h 3220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0535" h="3220532">
                  <a:moveTo>
                    <a:pt x="0" y="1610266"/>
                  </a:moveTo>
                  <a:cubicBezTo>
                    <a:pt x="0" y="720941"/>
                    <a:pt x="720942" y="0"/>
                    <a:pt x="1610268" y="0"/>
                  </a:cubicBezTo>
                  <a:cubicBezTo>
                    <a:pt x="2499594" y="0"/>
                    <a:pt x="3220536" y="720941"/>
                    <a:pt x="3220536" y="1610266"/>
                  </a:cubicBezTo>
                  <a:cubicBezTo>
                    <a:pt x="3220536" y="2499591"/>
                    <a:pt x="2499594" y="3220532"/>
                    <a:pt x="1610268" y="3220532"/>
                  </a:cubicBezTo>
                  <a:cubicBezTo>
                    <a:pt x="720942" y="3220532"/>
                    <a:pt x="0" y="2499591"/>
                    <a:pt x="0" y="1610266"/>
                  </a:cubicBezTo>
                  <a:close/>
                </a:path>
              </a:pathLst>
            </a:custGeom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1343" tIns="490643" rIns="489508" bIns="49064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>
                  <a:latin typeface="Times New Roman"/>
                  <a:cs typeface="Times New Roman"/>
                </a:rPr>
                <a:t> Retrieve the Micro array data regarding MeCP2 from GEO database.</a:t>
              </a:r>
            </a:p>
          </p:txBody>
        </p:sp>
        <p:sp>
          <p:nvSpPr>
            <p:cNvPr id="76" name="Teardrop 75">
              <a:extLst>
                <a:ext uri="{FF2B5EF4-FFF2-40B4-BE49-F238E27FC236}">
                  <a16:creationId xmlns:a16="http://schemas.microsoft.com/office/drawing/2014/main" id="{77AF97B7-11F8-DC8F-B5A5-60C781C166E1}"/>
                </a:ext>
              </a:extLst>
            </p:cNvPr>
            <p:cNvSpPr/>
            <p:nvPr/>
          </p:nvSpPr>
          <p:spPr>
            <a:xfrm rot="2700000">
              <a:off x="3978400" y="18228812"/>
              <a:ext cx="3449650" cy="3449650"/>
            </a:xfrm>
            <a:prstGeom prst="teardrop">
              <a:avLst>
                <a:gd name="adj" fmla="val 10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6">
                <a:hueOff val="0"/>
                <a:satOff val="0"/>
                <a:lumOff val="0"/>
                <a:alphaOff val="0"/>
              </a:schemeClr>
            </a:fillRef>
            <a:effectRef idx="3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DCB33AF4-CF51-4DA5-085E-BB25D5F75B4A}"/>
                </a:ext>
              </a:extLst>
            </p:cNvPr>
            <p:cNvSpPr/>
            <p:nvPr/>
          </p:nvSpPr>
          <p:spPr>
            <a:xfrm>
              <a:off x="4093875" y="18343673"/>
              <a:ext cx="3220535" cy="3220532"/>
            </a:xfrm>
            <a:custGeom>
              <a:avLst/>
              <a:gdLst>
                <a:gd name="connsiteX0" fmla="*/ 0 w 3220535"/>
                <a:gd name="connsiteY0" fmla="*/ 1610266 h 3220532"/>
                <a:gd name="connsiteX1" fmla="*/ 1610268 w 3220535"/>
                <a:gd name="connsiteY1" fmla="*/ 0 h 3220532"/>
                <a:gd name="connsiteX2" fmla="*/ 3220536 w 3220535"/>
                <a:gd name="connsiteY2" fmla="*/ 1610266 h 3220532"/>
                <a:gd name="connsiteX3" fmla="*/ 1610268 w 3220535"/>
                <a:gd name="connsiteY3" fmla="*/ 3220532 h 3220532"/>
                <a:gd name="connsiteX4" fmla="*/ 0 w 3220535"/>
                <a:gd name="connsiteY4" fmla="*/ 1610266 h 3220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0535" h="3220532">
                  <a:moveTo>
                    <a:pt x="0" y="1610266"/>
                  </a:moveTo>
                  <a:cubicBezTo>
                    <a:pt x="0" y="720941"/>
                    <a:pt x="720942" y="0"/>
                    <a:pt x="1610268" y="0"/>
                  </a:cubicBezTo>
                  <a:cubicBezTo>
                    <a:pt x="2499594" y="0"/>
                    <a:pt x="3220536" y="720941"/>
                    <a:pt x="3220536" y="1610266"/>
                  </a:cubicBezTo>
                  <a:cubicBezTo>
                    <a:pt x="3220536" y="2499591"/>
                    <a:pt x="2499594" y="3220532"/>
                    <a:pt x="1610268" y="3220532"/>
                  </a:cubicBezTo>
                  <a:cubicBezTo>
                    <a:pt x="720942" y="3220532"/>
                    <a:pt x="0" y="2499591"/>
                    <a:pt x="0" y="1610266"/>
                  </a:cubicBezTo>
                  <a:close/>
                </a:path>
              </a:pathLst>
            </a:custGeom>
          </p:spPr>
          <p:style>
            <a:lnRef idx="1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1344" tIns="490643" rIns="489507" bIns="490642" numCol="1" spcCol="1270" anchor="ctr" anchorCtr="0">
              <a:noAutofit/>
            </a:bodyPr>
            <a:lstStyle/>
            <a:p>
              <a:pPr marL="0" lvl="0" indent="0" algn="ctr" defTabSz="10668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>
                  <a:latin typeface="Times New Roman"/>
                  <a:cs typeface="Times New Roman"/>
                </a:rPr>
                <a:t>Conduct a literature search for biogenic markers associated with </a:t>
              </a:r>
              <a:r>
                <a:rPr lang="en-US" sz="3200" kern="1200" dirty="0" err="1">
                  <a:latin typeface="Times New Roman"/>
                  <a:cs typeface="Times New Roman"/>
                </a:rPr>
                <a:t>Rett’s</a:t>
              </a:r>
              <a:r>
                <a:rPr lang="en-US" sz="3200" kern="1200" dirty="0">
                  <a:latin typeface="Times New Roman"/>
                  <a:cs typeface="Times New Roman"/>
                </a:rPr>
                <a:t> syndrome.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59B1D61-024E-B966-3250-F600866EC342}"/>
              </a:ext>
            </a:extLst>
          </p:cNvPr>
          <p:cNvSpPr txBox="1"/>
          <p:nvPr/>
        </p:nvSpPr>
        <p:spPr>
          <a:xfrm>
            <a:off x="26737180" y="21214606"/>
            <a:ext cx="4926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i="1" dirty="0">
                <a:solidFill>
                  <a:srgbClr val="002060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Protein with </a:t>
            </a:r>
            <a:r>
              <a:rPr lang="en-IN" sz="3200" b="1" i="1" dirty="0" err="1">
                <a:solidFill>
                  <a:srgbClr val="002060"/>
                </a:solidFill>
                <a:effectLst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Arboreol</a:t>
            </a:r>
            <a:endParaRPr lang="en-IN" sz="3200" b="1" i="1" dirty="0">
              <a:solidFill>
                <a:srgbClr val="002060"/>
              </a:solidFill>
              <a:effectLst>
                <a:reflection blurRad="6350" stA="55000" endA="300" endPos="45500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4" descr="(3S,3aS,6S,6aR)-3,6-bis(1,3-benzodioxol-5-yl)-1,4,6,6a-tetrahydrofuro[3,4-c]furan-3,3a-diol">
            <a:extLst>
              <a:ext uri="{FF2B5EF4-FFF2-40B4-BE49-F238E27FC236}">
                <a16:creationId xmlns:a16="http://schemas.microsoft.com/office/drawing/2014/main" id="{AED2CBC4-6162-5FBA-01A5-7680F849C4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9" t="9266" b="13418"/>
          <a:stretch/>
        </p:blipFill>
        <p:spPr bwMode="auto">
          <a:xfrm>
            <a:off x="23251821" y="19064837"/>
            <a:ext cx="3016221" cy="237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: Rounded Corners 13">
            <a:extLst>
              <a:ext uri="{FF2B5EF4-FFF2-40B4-BE49-F238E27FC236}">
                <a16:creationId xmlns:a16="http://schemas.microsoft.com/office/drawing/2014/main" id="{3344992E-EDB2-DA72-DF64-153246225422}"/>
              </a:ext>
            </a:extLst>
          </p:cNvPr>
          <p:cNvSpPr/>
          <p:nvPr/>
        </p:nvSpPr>
        <p:spPr>
          <a:xfrm>
            <a:off x="1740131" y="21799381"/>
            <a:ext cx="14130348" cy="146283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003">
            <a:schemeClr val="lt2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54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8" name="Rectangle: Rounded Corners 13">
            <a:extLst>
              <a:ext uri="{FF2B5EF4-FFF2-40B4-BE49-F238E27FC236}">
                <a16:creationId xmlns:a16="http://schemas.microsoft.com/office/drawing/2014/main" id="{3344992E-EDB2-DA72-DF64-153246225422}"/>
              </a:ext>
            </a:extLst>
          </p:cNvPr>
          <p:cNvSpPr/>
          <p:nvPr/>
        </p:nvSpPr>
        <p:spPr>
          <a:xfrm>
            <a:off x="25014899" y="5576644"/>
            <a:ext cx="12904286" cy="118571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003">
            <a:schemeClr val="lt2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54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9" name="Rectangle: Rounded Corners 13">
            <a:extLst>
              <a:ext uri="{FF2B5EF4-FFF2-40B4-BE49-F238E27FC236}">
                <a16:creationId xmlns:a16="http://schemas.microsoft.com/office/drawing/2014/main" id="{3344992E-EDB2-DA72-DF64-153246225422}"/>
              </a:ext>
            </a:extLst>
          </p:cNvPr>
          <p:cNvSpPr/>
          <p:nvPr/>
        </p:nvSpPr>
        <p:spPr>
          <a:xfrm>
            <a:off x="1740131" y="5594976"/>
            <a:ext cx="14130348" cy="119047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003">
            <a:schemeClr val="lt2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IN" sz="54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0" name="Rectangle: Rounded Corners 13">
            <a:extLst>
              <a:ext uri="{FF2B5EF4-FFF2-40B4-BE49-F238E27FC236}">
                <a16:creationId xmlns:a16="http://schemas.microsoft.com/office/drawing/2014/main" id="{3344992E-EDB2-DA72-DF64-153246225422}"/>
              </a:ext>
            </a:extLst>
          </p:cNvPr>
          <p:cNvSpPr/>
          <p:nvPr/>
        </p:nvSpPr>
        <p:spPr>
          <a:xfrm>
            <a:off x="1740131" y="27407787"/>
            <a:ext cx="14130348" cy="141486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003">
            <a:schemeClr val="lt2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lang="en-IN" sz="5400" b="1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139582"/>
      </p:ext>
    </p:extLst>
  </p:cSld>
  <p:clrMapOvr>
    <a:masterClrMapping/>
  </p:clrMapOvr>
</p:sld>
</file>

<file path=ppt/theme/theme1.xml><?xml version="1.0" encoding="utf-8"?>
<a:theme xmlns:a="http://schemas.openxmlformats.org/drawingml/2006/main" name="DNA,thmx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NA,thmx" id="{376AB670-01DD-4563-AEC5-341E43781774}" vid="{9E64EFE5-6E15-4E79-92E6-3AC8C70B9A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DNA</Template>
  <TotalTime>6977</TotalTime>
  <Words>584</Words>
  <Application>Microsoft Office PowerPoint</Application>
  <PresentationFormat>Custom</PresentationFormat>
  <Paragraphs>86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Times New Roman</vt:lpstr>
      <vt:lpstr>DNA,thmx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KHANDELWAL</dc:creator>
  <cp:lastModifiedBy>Naga Anjana Gopinath</cp:lastModifiedBy>
  <cp:revision>187</cp:revision>
  <dcterms:created xsi:type="dcterms:W3CDTF">2021-12-01T08:50:02Z</dcterms:created>
  <dcterms:modified xsi:type="dcterms:W3CDTF">2024-07-28T11:23:40Z</dcterms:modified>
</cp:coreProperties>
</file>